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0" Type="http://schemas.openxmlformats.org/officeDocument/2006/relationships/slide" Target="slides/slide5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4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" name="Google Shape;7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" name="Google Shape;8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1" name="Google Shape;11;p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github.com/fernanda-leite/NandaPay/blob/main/Nandapay.sql" TargetMode="External"/><Relationship Id="rId4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title"/>
          </p:nvPr>
        </p:nvSpPr>
        <p:spPr>
          <a:xfrm>
            <a:off x="311700" y="2175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t-BR" sz="1820"/>
              <a:t>Entendimento do problema</a:t>
            </a:r>
            <a:endParaRPr sz="1820"/>
          </a:p>
        </p:txBody>
      </p:sp>
      <p:sp>
        <p:nvSpPr>
          <p:cNvPr id="55" name="Google Shape;55;p13"/>
          <p:cNvSpPr txBox="1"/>
          <p:nvPr>
            <p:ph idx="1" type="body"/>
          </p:nvPr>
        </p:nvSpPr>
        <p:spPr>
          <a:xfrm>
            <a:off x="311700" y="863550"/>
            <a:ext cx="8520600" cy="7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pt-BR" sz="1100">
                <a:solidFill>
                  <a:schemeClr val="dk1"/>
                </a:solidFill>
              </a:rPr>
              <a:t>O objetivo principal é substituir uma aplicação monolítica e legada de controle de limites por uma </a:t>
            </a:r>
            <a:r>
              <a:rPr b="1" lang="pt-BR" sz="1100">
                <a:solidFill>
                  <a:schemeClr val="dk1"/>
                </a:solidFill>
              </a:rPr>
              <a:t>arquitetura moderna, desacoplada e escalável</a:t>
            </a:r>
            <a:r>
              <a:rPr lang="pt-BR" sz="1100">
                <a:solidFill>
                  <a:schemeClr val="dk1"/>
                </a:solidFill>
              </a:rPr>
              <a:t>. Essa nova solução precisa atender a múltiplos canais digitais e físicos , garantindo baixa latência, alta disponibilidade e rastreabilidade total das decisões. </a:t>
            </a:r>
            <a:endParaRPr/>
          </a:p>
        </p:txBody>
      </p:sp>
      <p:sp>
        <p:nvSpPr>
          <p:cNvPr id="56" name="Google Shape;56;p13"/>
          <p:cNvSpPr txBox="1"/>
          <p:nvPr>
            <p:ph type="title"/>
          </p:nvPr>
        </p:nvSpPr>
        <p:spPr>
          <a:xfrm>
            <a:off x="311700" y="16178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t-BR" sz="1820"/>
              <a:t>Premissas</a:t>
            </a:r>
            <a:endParaRPr sz="1820"/>
          </a:p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311700" y="2198700"/>
            <a:ext cx="8520600" cy="22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pt-BR" sz="1100">
                <a:solidFill>
                  <a:schemeClr val="dk1"/>
                </a:solidFill>
              </a:rPr>
              <a:t>- Modelo de Dados e Histórico:</a:t>
            </a:r>
            <a:r>
              <a:rPr lang="pt-BR" sz="1100">
                <a:solidFill>
                  <a:schemeClr val="dk1"/>
                </a:solidFill>
              </a:rPr>
              <a:t> As alterações de limites , bem como as novas transações.Cada inclusão ou modificação gera uma nova versão do registro na tabela de histórico, garantindo que os registros possam ser consultadas retroativamente ou auditadas;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pt-BR" sz="1100">
                <a:solidFill>
                  <a:schemeClr val="dk1"/>
                </a:solidFill>
              </a:rPr>
              <a:t>- Chave de Idempotência:</a:t>
            </a:r>
            <a:r>
              <a:rPr lang="pt-BR" sz="1100">
                <a:solidFill>
                  <a:schemeClr val="dk1"/>
                </a:solidFill>
              </a:rPr>
              <a:t> Cada solicitação de transação originada nos canais deve carregar um hash único, gerado da combinação dos parâmetros da transação, para evitar processamento duplicado.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pt-BR" sz="1100">
                <a:solidFill>
                  <a:schemeClr val="dk1"/>
                </a:solidFill>
              </a:rPr>
              <a:t>- Mensageria com Dead Letter Queue (DLQ) e Retry Exponencial:</a:t>
            </a:r>
            <a:r>
              <a:rPr lang="pt-BR" sz="1100">
                <a:solidFill>
                  <a:schemeClr val="dk1"/>
                </a:solidFill>
              </a:rPr>
              <a:t> Os tópicos de mensageria devem garantir entrega garantida. Caso um sistema consumidor fique indisponível, a mensagem permanece na fila com retry exponencial, evitando um colapso por tempestade. Se falhar após esgotar n tentativas, é direcionada para uma DLQ para análise posterior, sem travar o fluxo principal da transação do cliente.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/>
          <p:nvPr>
            <p:ph type="title"/>
          </p:nvPr>
        </p:nvSpPr>
        <p:spPr>
          <a:xfrm>
            <a:off x="311700" y="204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t-BR" sz="1820"/>
              <a:t>Modelo Lógico</a:t>
            </a:r>
            <a:endParaRPr sz="1820"/>
          </a:p>
        </p:txBody>
      </p:sp>
      <p:pic>
        <p:nvPicPr>
          <p:cNvPr id="63" name="Google Shape;6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929500"/>
            <a:ext cx="8839203" cy="3958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2044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t-BR" sz="1820"/>
              <a:t>Modelo Físico</a:t>
            </a:r>
            <a:endParaRPr sz="1820"/>
          </a:p>
        </p:txBody>
      </p:sp>
      <p:pic>
        <p:nvPicPr>
          <p:cNvPr id="69" name="Google Shape;69;p15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52400" y="929500"/>
            <a:ext cx="8839200" cy="3642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idx="4294967295" type="title"/>
          </p:nvPr>
        </p:nvSpPr>
        <p:spPr>
          <a:xfrm>
            <a:off x="152400" y="2494550"/>
            <a:ext cx="13065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pt-BR" sz="1320"/>
              <a:t>Contrato</a:t>
            </a:r>
            <a:endParaRPr b="1" sz="1320"/>
          </a:p>
        </p:txBody>
      </p:sp>
      <p:sp>
        <p:nvSpPr>
          <p:cNvPr id="75" name="Google Shape;75;p16"/>
          <p:cNvSpPr txBox="1"/>
          <p:nvPr>
            <p:ph idx="4294967295" type="title"/>
          </p:nvPr>
        </p:nvSpPr>
        <p:spPr>
          <a:xfrm>
            <a:off x="4303300" y="2026250"/>
            <a:ext cx="13065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pt-BR" sz="1320"/>
              <a:t>Questões</a:t>
            </a:r>
            <a:endParaRPr b="1" sz="1320"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3115250"/>
            <a:ext cx="3991170" cy="187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95970" y="2646950"/>
            <a:ext cx="4695630" cy="22306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52400" y="104775"/>
            <a:ext cx="8667750" cy="1921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7"/>
          <p:cNvSpPr txBox="1"/>
          <p:nvPr/>
        </p:nvSpPr>
        <p:spPr>
          <a:xfrm>
            <a:off x="193675" y="733875"/>
            <a:ext cx="8301900" cy="430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900">
                <a:solidFill>
                  <a:srgbClr val="1F1F1F"/>
                </a:solidFill>
              </a:rPr>
              <a:t>1. Principais Decisões</a:t>
            </a:r>
            <a:endParaRPr b="1" sz="900">
              <a:solidFill>
                <a:srgbClr val="1F1F1F"/>
              </a:solidFill>
            </a:endParaRPr>
          </a:p>
          <a:p>
            <a:pPr indent="-2730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700"/>
              <a:buChar char="●"/>
            </a:pPr>
            <a:r>
              <a:rPr b="1" lang="pt-BR" sz="700">
                <a:solidFill>
                  <a:srgbClr val="1F1F1F"/>
                </a:solidFill>
              </a:rPr>
              <a:t>Arquitetura Orientada a Eventos baseada em CDC :</a:t>
            </a:r>
            <a:r>
              <a:rPr lang="pt-BR" sz="700">
                <a:solidFill>
                  <a:srgbClr val="1F1F1F"/>
                </a:solidFill>
              </a:rPr>
              <a:t> Utilização de uma ferramenta de CDC para consumir o </a:t>
            </a:r>
            <a:r>
              <a:rPr i="1" lang="pt-BR" sz="700">
                <a:solidFill>
                  <a:srgbClr val="1F1F1F"/>
                </a:solidFill>
              </a:rPr>
              <a:t>RedoLog</a:t>
            </a:r>
            <a:r>
              <a:rPr lang="pt-BR" sz="700">
                <a:solidFill>
                  <a:srgbClr val="1F1F1F"/>
                </a:solidFill>
              </a:rPr>
              <a:t> de um banco de dados relacional e enviar eventos de manipulação de dados para um barramento de streaming.</a:t>
            </a:r>
            <a:endParaRPr sz="700">
              <a:solidFill>
                <a:srgbClr val="1F1F1F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rgbClr val="1F1F1F"/>
              </a:solidFill>
            </a:endParaRPr>
          </a:p>
          <a:p>
            <a:pPr indent="-2730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700"/>
              <a:buChar char="●"/>
            </a:pPr>
            <a:r>
              <a:rPr b="1" lang="pt-BR" sz="700">
                <a:solidFill>
                  <a:srgbClr val="1F1F1F"/>
                </a:solidFill>
              </a:rPr>
              <a:t>Uso de Streaming e Processamento em Tempo Real:</a:t>
            </a:r>
            <a:r>
              <a:rPr lang="pt-BR" sz="700">
                <a:solidFill>
                  <a:srgbClr val="1F1F1F"/>
                </a:solidFill>
              </a:rPr>
              <a:t> Adoção de serviços gerenciados de streaming  integrados a uma ferramenta de processamento de stream para transformar, enriquecer e despachar dados para tópicos de leitura com suporte a </a:t>
            </a:r>
            <a:r>
              <a:rPr i="1" lang="pt-BR" sz="700">
                <a:solidFill>
                  <a:srgbClr val="1F1F1F"/>
                </a:solidFill>
              </a:rPr>
              <a:t>backoff</a:t>
            </a:r>
            <a:r>
              <a:rPr lang="pt-BR" sz="700">
                <a:solidFill>
                  <a:srgbClr val="1F1F1F"/>
                </a:solidFill>
              </a:rPr>
              <a:t> exponencial e </a:t>
            </a:r>
            <a:r>
              <a:rPr i="1" lang="pt-BR" sz="700">
                <a:solidFill>
                  <a:srgbClr val="1F1F1F"/>
                </a:solidFill>
              </a:rPr>
              <a:t>Dead Letter Queue</a:t>
            </a:r>
            <a:r>
              <a:rPr lang="pt-BR" sz="700">
                <a:solidFill>
                  <a:srgbClr val="1F1F1F"/>
                </a:solidFill>
              </a:rPr>
              <a:t> (DLQ).</a:t>
            </a:r>
            <a:endParaRPr sz="700">
              <a:solidFill>
                <a:srgbClr val="1F1F1F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rgbClr val="1F1F1F"/>
              </a:solidFill>
            </a:endParaRPr>
          </a:p>
          <a:p>
            <a:pPr indent="-2730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700"/>
              <a:buChar char="●"/>
            </a:pPr>
            <a:r>
              <a:rPr b="1" lang="pt-BR" sz="700">
                <a:solidFill>
                  <a:srgbClr val="1F1F1F"/>
                </a:solidFill>
              </a:rPr>
              <a:t>Exposição de APIs Desacopladas:</a:t>
            </a:r>
            <a:r>
              <a:rPr lang="pt-BR" sz="700">
                <a:solidFill>
                  <a:srgbClr val="1F1F1F"/>
                </a:solidFill>
              </a:rPr>
              <a:t> Implementação de um fluxo de entrada com API Gateway conectado a uma API de transação que processa solicitações vindas de múltiplos canais e interage com o banco de dados relacional.</a:t>
            </a:r>
            <a:endParaRPr sz="700">
              <a:solidFill>
                <a:srgbClr val="1F1F1F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rgbClr val="1F1F1F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900">
                <a:solidFill>
                  <a:srgbClr val="1F1F1F"/>
                </a:solidFill>
              </a:rPr>
              <a:t>2. Principais Trade-offs </a:t>
            </a:r>
            <a:endParaRPr b="1" sz="900">
              <a:solidFill>
                <a:srgbClr val="1F1F1F"/>
              </a:solidFill>
            </a:endParaRPr>
          </a:p>
          <a:p>
            <a:pPr indent="-2730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700"/>
              <a:buChar char="●"/>
            </a:pPr>
            <a:r>
              <a:rPr b="1" lang="pt-BR" sz="700">
                <a:solidFill>
                  <a:srgbClr val="1F1F1F"/>
                </a:solidFill>
              </a:rPr>
              <a:t>CDC via RedoLog vs. Consultas na Aplicação:</a:t>
            </a:r>
            <a:br>
              <a:rPr b="1" lang="pt-BR" sz="700">
                <a:solidFill>
                  <a:srgbClr val="1F1F1F"/>
                </a:solidFill>
              </a:rPr>
            </a:br>
            <a:endParaRPr b="1" sz="700">
              <a:solidFill>
                <a:srgbClr val="1F1F1F"/>
              </a:solidFill>
            </a:endParaRPr>
          </a:p>
          <a:p>
            <a:pPr indent="-2730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700"/>
              <a:buChar char="○"/>
            </a:pPr>
            <a:r>
              <a:rPr i="1" lang="pt-BR" sz="700">
                <a:solidFill>
                  <a:srgbClr val="1F1F1F"/>
                </a:solidFill>
              </a:rPr>
              <a:t>Vantagem:</a:t>
            </a:r>
            <a:r>
              <a:rPr lang="pt-BR" sz="700">
                <a:solidFill>
                  <a:srgbClr val="1F1F1F"/>
                </a:solidFill>
              </a:rPr>
              <a:t> Desacopla o banco de dados transacional de sistemas analíticos ou de leitura, evitando sobrecarga nas tabelas transacionais.</a:t>
            </a:r>
            <a:endParaRPr sz="700">
              <a:solidFill>
                <a:srgbClr val="1F1F1F"/>
              </a:solidFill>
            </a:endParaRPr>
          </a:p>
          <a:p>
            <a:pPr indent="-2730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700"/>
              <a:buChar char="○"/>
            </a:pPr>
            <a:r>
              <a:rPr i="1" lang="pt-BR" sz="700">
                <a:solidFill>
                  <a:srgbClr val="1F1F1F"/>
                </a:solidFill>
              </a:rPr>
              <a:t>Desvantagem:</a:t>
            </a:r>
            <a:r>
              <a:rPr lang="pt-BR" sz="700">
                <a:solidFill>
                  <a:srgbClr val="1F1F1F"/>
                </a:solidFill>
              </a:rPr>
              <a:t> Maior complexidade operacional na configuração e monitoramento da ferramenta de CDC e dos </a:t>
            </a:r>
            <a:r>
              <a:rPr i="1" lang="pt-BR" sz="700">
                <a:solidFill>
                  <a:srgbClr val="1F1F1F"/>
                </a:solidFill>
              </a:rPr>
              <a:t>pipelines</a:t>
            </a:r>
            <a:r>
              <a:rPr lang="pt-BR" sz="700">
                <a:solidFill>
                  <a:srgbClr val="1F1F1F"/>
                </a:solidFill>
              </a:rPr>
              <a:t> de streaming.</a:t>
            </a:r>
            <a:endParaRPr sz="700">
              <a:solidFill>
                <a:srgbClr val="1F1F1F"/>
              </a:solidFill>
            </a:endParaRPr>
          </a:p>
          <a:p>
            <a:pPr indent="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rgbClr val="1F1F1F"/>
              </a:solidFill>
            </a:endParaRPr>
          </a:p>
          <a:p>
            <a:pPr indent="-2730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700"/>
              <a:buChar char="●"/>
            </a:pPr>
            <a:r>
              <a:rPr b="1" lang="pt-BR" sz="700">
                <a:solidFill>
                  <a:srgbClr val="1F1F1F"/>
                </a:solidFill>
              </a:rPr>
              <a:t>Processamento em Tempo Real (Stream Processing) vs. Carga em Lotes (Batch):</a:t>
            </a:r>
            <a:br>
              <a:rPr b="1" lang="pt-BR" sz="700">
                <a:solidFill>
                  <a:srgbClr val="1F1F1F"/>
                </a:solidFill>
              </a:rPr>
            </a:br>
            <a:endParaRPr b="1" sz="700">
              <a:solidFill>
                <a:srgbClr val="1F1F1F"/>
              </a:solidFill>
            </a:endParaRPr>
          </a:p>
          <a:p>
            <a:pPr indent="-2730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700"/>
              <a:buChar char="○"/>
            </a:pPr>
            <a:r>
              <a:rPr i="1" lang="pt-BR" sz="700">
                <a:solidFill>
                  <a:srgbClr val="1F1F1F"/>
                </a:solidFill>
              </a:rPr>
              <a:t>Vantagem:</a:t>
            </a:r>
            <a:r>
              <a:rPr lang="pt-BR" sz="700">
                <a:solidFill>
                  <a:srgbClr val="1F1F1F"/>
                </a:solidFill>
              </a:rPr>
              <a:t> Disponibilidade imediata dos dados transformados e enriquecidos para os tópicos de consumo.</a:t>
            </a:r>
            <a:endParaRPr sz="700">
              <a:solidFill>
                <a:srgbClr val="1F1F1F"/>
              </a:solidFill>
            </a:endParaRPr>
          </a:p>
          <a:p>
            <a:pPr indent="-2730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700"/>
              <a:buChar char="○"/>
            </a:pPr>
            <a:r>
              <a:rPr i="1" lang="pt-BR" sz="700">
                <a:solidFill>
                  <a:srgbClr val="1F1F1F"/>
                </a:solidFill>
              </a:rPr>
              <a:t>Desvantagem:</a:t>
            </a:r>
            <a:r>
              <a:rPr lang="pt-BR" sz="700">
                <a:solidFill>
                  <a:srgbClr val="1F1F1F"/>
                </a:solidFill>
              </a:rPr>
              <a:t> Custos operacionais mais elevados e maior complexidade de arquitetura em comparação com processamentos periódicos em lote.</a:t>
            </a:r>
            <a:endParaRPr sz="700">
              <a:solidFill>
                <a:srgbClr val="1F1F1F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rgbClr val="1F1F1F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900">
                <a:solidFill>
                  <a:srgbClr val="1F1F1F"/>
                </a:solidFill>
              </a:rPr>
              <a:t>3. Principais Riscos</a:t>
            </a:r>
            <a:endParaRPr b="1" sz="900">
              <a:solidFill>
                <a:srgbClr val="1F1F1F"/>
              </a:solidFill>
            </a:endParaRPr>
          </a:p>
          <a:p>
            <a:pPr indent="-2730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700"/>
              <a:buChar char="●"/>
            </a:pPr>
            <a:r>
              <a:rPr b="1" lang="pt-BR" sz="700">
                <a:solidFill>
                  <a:srgbClr val="1F1F1F"/>
                </a:solidFill>
              </a:rPr>
              <a:t>Gargalos ou Falhas no Consumo do RedoLog:</a:t>
            </a:r>
            <a:r>
              <a:rPr lang="pt-BR" sz="700">
                <a:solidFill>
                  <a:srgbClr val="1F1F1F"/>
                </a:solidFill>
              </a:rPr>
              <a:t> Se a ferramenta de CDC falhar ou ficar lenta ao consumir o </a:t>
            </a:r>
            <a:r>
              <a:rPr i="1" lang="pt-BR" sz="700">
                <a:solidFill>
                  <a:srgbClr val="1F1F1F"/>
                </a:solidFill>
              </a:rPr>
              <a:t>RedoLog</a:t>
            </a:r>
            <a:r>
              <a:rPr lang="pt-BR" sz="700">
                <a:solidFill>
                  <a:srgbClr val="1F1F1F"/>
                </a:solidFill>
              </a:rPr>
              <a:t> do banco relacional, isso pode gerar impacto na performance do banco de dados principal ou atrasos severos na replicação dos eventos.</a:t>
            </a:r>
            <a:endParaRPr sz="700">
              <a:solidFill>
                <a:srgbClr val="1F1F1F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rgbClr val="1F1F1F"/>
              </a:solidFill>
            </a:endParaRPr>
          </a:p>
          <a:p>
            <a:pPr indent="-2730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700"/>
              <a:buChar char="●"/>
            </a:pPr>
            <a:r>
              <a:rPr b="1" lang="pt-BR" sz="700">
                <a:solidFill>
                  <a:srgbClr val="1F1F1F"/>
                </a:solidFill>
              </a:rPr>
              <a:t>Complexidade na Tratativa de Erros e Resiliência:</a:t>
            </a:r>
            <a:r>
              <a:rPr lang="pt-BR" sz="700">
                <a:solidFill>
                  <a:srgbClr val="1F1F1F"/>
                </a:solidFill>
              </a:rPr>
              <a:t> Apesar de contar com </a:t>
            </a:r>
            <a:r>
              <a:rPr i="1" lang="pt-BR" sz="700">
                <a:solidFill>
                  <a:srgbClr val="1F1F1F"/>
                </a:solidFill>
              </a:rPr>
              <a:t>backoff</a:t>
            </a:r>
            <a:r>
              <a:rPr lang="pt-BR" sz="700">
                <a:solidFill>
                  <a:srgbClr val="1F1F1F"/>
                </a:solidFill>
              </a:rPr>
              <a:t> exponencial e DLQ nos tópicos de leitura, falhas mal configuradas no processamento de stream (</a:t>
            </a:r>
            <a:r>
              <a:rPr i="1" lang="pt-BR" sz="700">
                <a:solidFill>
                  <a:srgbClr val="1F1F1F"/>
                </a:solidFill>
              </a:rPr>
              <a:t>Stream Processing</a:t>
            </a:r>
            <a:r>
              <a:rPr lang="pt-BR" sz="700">
                <a:solidFill>
                  <a:srgbClr val="1F1F1F"/>
                </a:solidFill>
              </a:rPr>
              <a:t>) podem resultar em perda de eventos, mensagens duplicadas ou travamento no fluxo de dados.</a:t>
            </a:r>
            <a:endParaRPr sz="700">
              <a:solidFill>
                <a:srgbClr val="1F1F1F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solidFill>
                <a:srgbClr val="1F1F1F"/>
              </a:solidFill>
            </a:endParaRPr>
          </a:p>
          <a:p>
            <a:pPr indent="-2730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700"/>
              <a:buChar char="●"/>
            </a:pPr>
            <a:r>
              <a:rPr b="1" lang="pt-BR" sz="700">
                <a:solidFill>
                  <a:srgbClr val="1F1F1F"/>
                </a:solidFill>
              </a:rPr>
              <a:t>Ponto Único de Falha Operacional:</a:t>
            </a:r>
            <a:r>
              <a:rPr lang="pt-BR" sz="700">
                <a:solidFill>
                  <a:srgbClr val="1F1F1F"/>
                </a:solidFill>
              </a:rPr>
              <a:t> A dependência de múltiplos componentes gerenciados em cadeia (API Gateway  API de Transação  Banco  CDC  Streaming  Stream Processing  Streaming de Destino) aumenta a superfície de falhas sistêmicas, exigindo observabilidade robusta em ponta a ponta.</a:t>
            </a:r>
            <a:endParaRPr b="1" sz="800">
              <a:solidFill>
                <a:srgbClr val="1F1F1F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17"/>
          <p:cNvSpPr txBox="1"/>
          <p:nvPr>
            <p:ph idx="4294967295" type="title"/>
          </p:nvPr>
        </p:nvSpPr>
        <p:spPr>
          <a:xfrm>
            <a:off x="2041850" y="213075"/>
            <a:ext cx="3259200" cy="43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91"/>
              <a:buNone/>
            </a:pPr>
            <a:r>
              <a:rPr b="1" lang="pt-BR" sz="1388"/>
              <a:t>Decisões, trade-offs e riscos</a:t>
            </a:r>
            <a:endParaRPr b="1" sz="1388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