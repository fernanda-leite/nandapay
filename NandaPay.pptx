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</p:sldIdLst>
  <p:sldSz cy="5143500" cx="9144000"/>
  <p:notesSz cx="6858000" cy="9144000"/>
  <p:embeddedFontLst>
    <p:embeddedFont>
      <p:font typeface="Plus Jakarta Sans"/>
      <p:regular r:id="rId13"/>
      <p:bold r:id="rId14"/>
      <p:italic r:id="rId15"/>
      <p:boldItalic r:id="rId1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font" Target="fonts/PlusJakartaSans-regular.fntdata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PlusJakartaSans-italic.fntdata"/><Relationship Id="rId14" Type="http://schemas.openxmlformats.org/officeDocument/2006/relationships/font" Target="fonts/PlusJakartaSans-bold.fntdata"/><Relationship Id="rId16" Type="http://schemas.openxmlformats.org/officeDocument/2006/relationships/font" Target="fonts/PlusJakartaSans-bold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h648292c39f742fe6_1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" name="Google Shape;52;h648292c39f742fe6_1_9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7" name="Google Shape;87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5" name="Google Shape;95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1" name="Google Shape;101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4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7" name="Google Shape;107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4" name="Google Shape;114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h648292c39f742fe6_1_1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0" name="Google Shape;120;h648292c39f742fe6_1_1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1" Type="http://schemas.openxmlformats.org/officeDocument/2006/relationships/image" Target="../media/image18.jpg"/><Relationship Id="rId10" Type="http://schemas.openxmlformats.org/officeDocument/2006/relationships/image" Target="../media/image16.jpg"/><Relationship Id="rId13" Type="http://schemas.openxmlformats.org/officeDocument/2006/relationships/image" Target="../media/image5.jpg"/><Relationship Id="rId12" Type="http://schemas.openxmlformats.org/officeDocument/2006/relationships/image" Target="../media/image9.png"/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0.png"/><Relationship Id="rId4" Type="http://schemas.openxmlformats.org/officeDocument/2006/relationships/image" Target="../media/image8.png"/><Relationship Id="rId9" Type="http://schemas.openxmlformats.org/officeDocument/2006/relationships/image" Target="../media/image2.png"/><Relationship Id="rId15" Type="http://schemas.openxmlformats.org/officeDocument/2006/relationships/image" Target="../media/image13.jpg"/><Relationship Id="rId14" Type="http://schemas.openxmlformats.org/officeDocument/2006/relationships/image" Target="../media/image15.jpg"/><Relationship Id="rId17" Type="http://schemas.openxmlformats.org/officeDocument/2006/relationships/image" Target="../media/image17.jpg"/><Relationship Id="rId16" Type="http://schemas.openxmlformats.org/officeDocument/2006/relationships/image" Target="../media/image19.jpg"/><Relationship Id="rId5" Type="http://schemas.openxmlformats.org/officeDocument/2006/relationships/image" Target="../media/image1.png"/><Relationship Id="rId6" Type="http://schemas.openxmlformats.org/officeDocument/2006/relationships/image" Target="../media/image6.png"/><Relationship Id="rId7" Type="http://schemas.openxmlformats.org/officeDocument/2006/relationships/image" Target="../media/image3.png"/><Relationship Id="rId8" Type="http://schemas.openxmlformats.org/officeDocument/2006/relationships/image" Target="../media/image4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9"/>
        </a:solidFill>
      </p:bgPr>
    </p:bg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/>
          <p:nvPr/>
        </p:nvSpPr>
        <p:spPr>
          <a:xfrm>
            <a:off x="3343275" y="1247250"/>
            <a:ext cx="2714700" cy="1948500"/>
          </a:xfrm>
          <a:prstGeom prst="roundRect">
            <a:avLst>
              <a:gd fmla="val 8247" name="adj"/>
            </a:avLst>
          </a:prstGeom>
          <a:solidFill>
            <a:srgbClr val="FFFFFF"/>
          </a:solidFill>
          <a:ln cap="flat" cmpd="sng" w="715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13"/>
          <p:cNvSpPr/>
          <p:nvPr/>
        </p:nvSpPr>
        <p:spPr>
          <a:xfrm>
            <a:off x="6115050" y="1247254"/>
            <a:ext cx="2628900" cy="1386000"/>
          </a:xfrm>
          <a:prstGeom prst="roundRect">
            <a:avLst>
              <a:gd fmla="val 8247" name="adj"/>
            </a:avLst>
          </a:prstGeom>
          <a:solidFill>
            <a:srgbClr val="FFFFFF"/>
          </a:solidFill>
          <a:ln cap="flat" cmpd="sng" w="715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13"/>
          <p:cNvSpPr/>
          <p:nvPr/>
        </p:nvSpPr>
        <p:spPr>
          <a:xfrm>
            <a:off x="3331875" y="3302550"/>
            <a:ext cx="2628900" cy="1482600"/>
          </a:xfrm>
          <a:prstGeom prst="roundRect">
            <a:avLst>
              <a:gd fmla="val 8247" name="adj"/>
            </a:avLst>
          </a:prstGeom>
          <a:solidFill>
            <a:srgbClr val="FFFFFF"/>
          </a:solidFill>
          <a:ln cap="flat" cmpd="sng" w="715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p13"/>
          <p:cNvSpPr/>
          <p:nvPr/>
        </p:nvSpPr>
        <p:spPr>
          <a:xfrm>
            <a:off x="6115050" y="2928416"/>
            <a:ext cx="2628900" cy="1386000"/>
          </a:xfrm>
          <a:prstGeom prst="roundRect">
            <a:avLst>
              <a:gd fmla="val 8247" name="adj"/>
            </a:avLst>
          </a:prstGeom>
          <a:solidFill>
            <a:srgbClr val="FFFFFF"/>
          </a:solidFill>
          <a:ln cap="flat" cmpd="sng" w="715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58" name="Google Shape;58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0050" y="1132954"/>
            <a:ext cx="2714625" cy="314325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59" name="Google Shape;59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521869" y="1425847"/>
            <a:ext cx="285750" cy="2857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60" name="Google Shape;60;p1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293644" y="1425847"/>
            <a:ext cx="285750" cy="2857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61" name="Google Shape;61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521844" y="3338010"/>
            <a:ext cx="285750" cy="2857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62" name="Google Shape;62;p1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293644" y="3107010"/>
            <a:ext cx="285750" cy="2857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63" name="Google Shape;63;p13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3600450" y="1504429"/>
            <a:ext cx="128588" cy="128588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64" name="Google Shape;64;p13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386513" y="1504429"/>
            <a:ext cx="100013" cy="128588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65" name="Google Shape;65;p13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3600450" y="3414191"/>
            <a:ext cx="128588" cy="128588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66" name="Google Shape;66;p13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372225" y="3185591"/>
            <a:ext cx="128588" cy="128588"/>
          </a:xfrm>
          <a:prstGeom prst="rect">
            <a:avLst/>
          </a:prstGeom>
          <a:noFill/>
          <a:ln>
            <a:noFill/>
          </a:ln>
        </p:spPr>
      </p:pic>
      <p:sp>
        <p:nvSpPr>
          <p:cNvPr id="67" name="Google Shape;67;p13"/>
          <p:cNvSpPr txBox="1"/>
          <p:nvPr/>
        </p:nvSpPr>
        <p:spPr>
          <a:xfrm>
            <a:off x="400050" y="342900"/>
            <a:ext cx="48576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800" u="none" cap="none" strike="noStrike">
                <a:solidFill>
                  <a:srgbClr val="D97706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QUEM SOU EU</a:t>
            </a:r>
            <a:endParaRPr sz="1100"/>
          </a:p>
        </p:txBody>
      </p:sp>
      <p:sp>
        <p:nvSpPr>
          <p:cNvPr id="68" name="Google Shape;68;p13"/>
          <p:cNvSpPr txBox="1"/>
          <p:nvPr/>
        </p:nvSpPr>
        <p:spPr>
          <a:xfrm>
            <a:off x="400050" y="528638"/>
            <a:ext cx="51009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2400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Muito prazer, </a:t>
            </a:r>
            <a:r>
              <a:rPr b="1" lang="pt-BR" sz="2400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Fernanda</a:t>
            </a:r>
            <a:r>
              <a:rPr b="1" i="0" lang="pt-BR" sz="2400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!</a:t>
            </a:r>
            <a:endParaRPr sz="1100"/>
          </a:p>
        </p:txBody>
      </p:sp>
      <p:sp>
        <p:nvSpPr>
          <p:cNvPr id="69" name="Google Shape;69;p13"/>
          <p:cNvSpPr txBox="1"/>
          <p:nvPr/>
        </p:nvSpPr>
        <p:spPr>
          <a:xfrm>
            <a:off x="3521869" y="1797322"/>
            <a:ext cx="29817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000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Como tudo começou</a:t>
            </a:r>
            <a:r>
              <a:rPr b="1" lang="pt-BR" sz="1000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</a:t>
            </a:r>
            <a:endParaRPr sz="1100"/>
          </a:p>
        </p:txBody>
      </p:sp>
      <p:sp>
        <p:nvSpPr>
          <p:cNvPr id="70" name="Google Shape;70;p13"/>
          <p:cNvSpPr txBox="1"/>
          <p:nvPr/>
        </p:nvSpPr>
        <p:spPr>
          <a:xfrm>
            <a:off x="3532506" y="2009891"/>
            <a:ext cx="2343300" cy="115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Nascida em 1978, em SP, filha de um comerciante e de uma dona de casa. Estudei em colégio de freiras na minha infância e início de adolescência. E nas aulas de comércio , conheci o ensino técnico, então no ano de 1994,  tive o primeiro contato com  TI, no colégio técnico de Processamento de Dados.  </a:t>
            </a:r>
            <a:endParaRPr sz="1100"/>
          </a:p>
        </p:txBody>
      </p:sp>
      <p:sp>
        <p:nvSpPr>
          <p:cNvPr id="71" name="Google Shape;71;p13"/>
          <p:cNvSpPr txBox="1"/>
          <p:nvPr/>
        </p:nvSpPr>
        <p:spPr>
          <a:xfrm>
            <a:off x="6293644" y="1797322"/>
            <a:ext cx="28503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1000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Fatos Curiosos</a:t>
            </a:r>
            <a:endParaRPr sz="1100"/>
          </a:p>
        </p:txBody>
      </p:sp>
      <p:sp>
        <p:nvSpPr>
          <p:cNvPr id="72" name="Google Shape;72;p13"/>
          <p:cNvSpPr txBox="1"/>
          <p:nvPr/>
        </p:nvSpPr>
        <p:spPr>
          <a:xfrm>
            <a:off x="6293644" y="2004491"/>
            <a:ext cx="2343300" cy="64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Apesar de ser da área de exatas, gosto muito de</a:t>
            </a:r>
            <a:r>
              <a:rPr lang="pt-BR" sz="800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história, e sempre que posso , procuro conhecer in loco,  lugares históricos. O lugar histórico mais impressionante que conheci ,  foi  Pompéia .</a:t>
            </a:r>
            <a:endParaRPr sz="1100"/>
          </a:p>
        </p:txBody>
      </p:sp>
      <p:sp>
        <p:nvSpPr>
          <p:cNvPr id="73" name="Google Shape;73;p13"/>
          <p:cNvSpPr txBox="1"/>
          <p:nvPr/>
        </p:nvSpPr>
        <p:spPr>
          <a:xfrm>
            <a:off x="3474669" y="3609235"/>
            <a:ext cx="29817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1000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Fora do Trabalho</a:t>
            </a:r>
            <a:endParaRPr sz="1100"/>
          </a:p>
        </p:txBody>
      </p:sp>
      <p:sp>
        <p:nvSpPr>
          <p:cNvPr id="74" name="Google Shape;74;p13"/>
          <p:cNvSpPr txBox="1"/>
          <p:nvPr/>
        </p:nvSpPr>
        <p:spPr>
          <a:xfrm>
            <a:off x="3474669" y="3824804"/>
            <a:ext cx="2343300" cy="812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No dia a dia, g</a:t>
            </a:r>
            <a:r>
              <a:rPr lang="pt-BR" sz="800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osto de  praticar esportes. Regularmente  pratico musculação , patinação e pilates, e quando possível, gosto de praticar kitesurf e ski. Atualmente além dos esportes ,  estou viciada também em criar agentes de  IA.</a:t>
            </a:r>
            <a:endParaRPr sz="1100"/>
          </a:p>
        </p:txBody>
      </p:sp>
      <p:sp>
        <p:nvSpPr>
          <p:cNvPr id="75" name="Google Shape;75;p13"/>
          <p:cNvSpPr txBox="1"/>
          <p:nvPr/>
        </p:nvSpPr>
        <p:spPr>
          <a:xfrm>
            <a:off x="6293644" y="3478485"/>
            <a:ext cx="28503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000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Dono da minha casa, e do meu coração</a:t>
            </a:r>
            <a:endParaRPr sz="1100"/>
          </a:p>
        </p:txBody>
      </p:sp>
      <p:sp>
        <p:nvSpPr>
          <p:cNvPr id="76" name="Google Shape;76;p13"/>
          <p:cNvSpPr txBox="1"/>
          <p:nvPr/>
        </p:nvSpPr>
        <p:spPr>
          <a:xfrm>
            <a:off x="6293644" y="3685654"/>
            <a:ext cx="2343300" cy="64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Não tenho filhos, mas tenho um anjo em casa , sou t</a:t>
            </a:r>
            <a:r>
              <a:rPr b="0" i="0" lang="pt-BR" sz="800" u="none" cap="none" strike="noStrike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utora d</a:t>
            </a:r>
            <a:r>
              <a:rPr lang="pt-BR" sz="800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</a:t>
            </a:r>
            <a:r>
              <a:rPr b="0" i="0" lang="pt-BR" sz="800" u="none" cap="none" strike="noStrike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</a:t>
            </a:r>
            <a:r>
              <a:rPr lang="pt-BR" sz="800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Yuki</a:t>
            </a:r>
            <a:r>
              <a:rPr b="0" i="0" lang="pt-BR" sz="800" u="none" cap="none" strike="noStrike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, um lulu da pomerânia que </a:t>
            </a:r>
            <a:r>
              <a:rPr lang="pt-BR" sz="800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as vezes </a:t>
            </a:r>
            <a:r>
              <a:rPr b="0" i="0" lang="pt-BR" sz="800" u="none" cap="none" strike="noStrike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faz aparições especiais nas reuniões remota</a:t>
            </a:r>
            <a:r>
              <a:rPr lang="pt-BR" sz="800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</a:t>
            </a:r>
            <a:endParaRPr sz="1100"/>
          </a:p>
        </p:txBody>
      </p:sp>
      <p:pic>
        <p:nvPicPr>
          <p:cNvPr id="77" name="Google Shape;77;p13" title="IMG_0266.jpeg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 rot="-1475084">
            <a:off x="607041" y="2575897"/>
            <a:ext cx="773551" cy="969848"/>
          </a:xfrm>
          <a:prstGeom prst="rect">
            <a:avLst/>
          </a:prstGeom>
          <a:noFill/>
          <a:ln>
            <a:noFill/>
          </a:ln>
        </p:spPr>
      </p:pic>
      <p:pic>
        <p:nvPicPr>
          <p:cNvPr id="78" name="Google Shape;78;p13" title="IMG_0269.jpeg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 rot="-1730043">
            <a:off x="1008362" y="3357980"/>
            <a:ext cx="900531" cy="888421"/>
          </a:xfrm>
          <a:prstGeom prst="rect">
            <a:avLst/>
          </a:prstGeom>
          <a:noFill/>
          <a:ln>
            <a:noFill/>
          </a:ln>
        </p:spPr>
      </p:pic>
      <p:pic>
        <p:nvPicPr>
          <p:cNvPr id="79" name="Google Shape;79;p13" title="Neve.png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 rot="-1217383">
            <a:off x="2093822" y="3139942"/>
            <a:ext cx="881484" cy="1324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80" name="Google Shape;80;p13" title="kite2.jpg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 rot="-1361049">
            <a:off x="1460245" y="1125702"/>
            <a:ext cx="1243622" cy="1079666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Google Shape;81;p13" title="IMG_0265.jpeg"/>
          <p:cNvPicPr preferRelativeResize="0"/>
          <p:nvPr/>
        </p:nvPicPr>
        <p:blipFill>
          <a:blip r:embed="rId14">
            <a:alphaModFix/>
          </a:blip>
          <a:stretch>
            <a:fillRect/>
          </a:stretch>
        </p:blipFill>
        <p:spPr>
          <a:xfrm rot="-1196168">
            <a:off x="550162" y="1312631"/>
            <a:ext cx="887306" cy="1255126"/>
          </a:xfrm>
          <a:prstGeom prst="rect">
            <a:avLst/>
          </a:prstGeom>
          <a:noFill/>
          <a:ln>
            <a:noFill/>
          </a:ln>
        </p:spPr>
      </p:pic>
      <p:pic>
        <p:nvPicPr>
          <p:cNvPr id="82" name="Google Shape;82;p13" title="IMG_0267.jpeg"/>
          <p:cNvPicPr preferRelativeResize="0"/>
          <p:nvPr/>
        </p:nvPicPr>
        <p:blipFill>
          <a:blip r:embed="rId15">
            <a:alphaModFix/>
          </a:blip>
          <a:stretch>
            <a:fillRect/>
          </a:stretch>
        </p:blipFill>
        <p:spPr>
          <a:xfrm rot="-1683757">
            <a:off x="1348256" y="2119528"/>
            <a:ext cx="1078384" cy="1203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83" name="Google Shape;83;p13" title="Neve.jpeg"/>
          <p:cNvPicPr preferRelativeResize="0"/>
          <p:nvPr/>
        </p:nvPicPr>
        <p:blipFill>
          <a:blip r:embed="rId16">
            <a:alphaModFix/>
          </a:blip>
          <a:stretch>
            <a:fillRect/>
          </a:stretch>
        </p:blipFill>
        <p:spPr>
          <a:xfrm rot="-1656401">
            <a:off x="2054147" y="2937957"/>
            <a:ext cx="1039423" cy="1385887"/>
          </a:xfrm>
          <a:prstGeom prst="rect">
            <a:avLst/>
          </a:prstGeom>
          <a:noFill/>
          <a:ln>
            <a:noFill/>
          </a:ln>
        </p:spPr>
      </p:pic>
      <p:pic>
        <p:nvPicPr>
          <p:cNvPr id="84" name="Google Shape;84;p13" title="20170217_140626.jpg"/>
          <p:cNvPicPr preferRelativeResize="0"/>
          <p:nvPr/>
        </p:nvPicPr>
        <p:blipFill>
          <a:blip r:embed="rId17">
            <a:alphaModFix/>
          </a:blip>
          <a:stretch>
            <a:fillRect/>
          </a:stretch>
        </p:blipFill>
        <p:spPr>
          <a:xfrm rot="-1701587">
            <a:off x="2289730" y="1993996"/>
            <a:ext cx="866631" cy="115550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4"/>
          <p:cNvSpPr txBox="1"/>
          <p:nvPr>
            <p:ph type="title"/>
          </p:nvPr>
        </p:nvSpPr>
        <p:spPr>
          <a:xfrm>
            <a:off x="311700" y="2175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t-BR" sz="1820">
                <a:solidFill>
                  <a:srgbClr val="D97706"/>
                </a:solidFill>
              </a:rPr>
              <a:t>Entendimento do problema</a:t>
            </a:r>
            <a:endParaRPr sz="1820">
              <a:solidFill>
                <a:srgbClr val="D97706"/>
              </a:solidFill>
            </a:endParaRPr>
          </a:p>
        </p:txBody>
      </p:sp>
      <p:sp>
        <p:nvSpPr>
          <p:cNvPr id="90" name="Google Shape;90;p14"/>
          <p:cNvSpPr txBox="1"/>
          <p:nvPr>
            <p:ph idx="1" type="body"/>
          </p:nvPr>
        </p:nvSpPr>
        <p:spPr>
          <a:xfrm>
            <a:off x="311700" y="863550"/>
            <a:ext cx="8520600" cy="746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pt-BR" sz="1100">
                <a:solidFill>
                  <a:schemeClr val="dk1"/>
                </a:solidFill>
              </a:rPr>
              <a:t>O objetivo principal é substituir uma aplicação monolítica e legada de controle de limites por uma </a:t>
            </a:r>
            <a:r>
              <a:rPr b="1" lang="pt-BR" sz="1100">
                <a:solidFill>
                  <a:schemeClr val="dk1"/>
                </a:solidFill>
              </a:rPr>
              <a:t>arquitetura moderna, desacoplada e escalável</a:t>
            </a:r>
            <a:r>
              <a:rPr lang="pt-BR" sz="1100">
                <a:solidFill>
                  <a:schemeClr val="dk1"/>
                </a:solidFill>
              </a:rPr>
              <a:t>. Essa nova solução precisa atender a múltiplos canais digitais e físicos , garantindo baixa latência, alta disponibilidade e rastreabilidade total das decisões. </a:t>
            </a:r>
            <a:endParaRPr/>
          </a:p>
        </p:txBody>
      </p:sp>
      <p:sp>
        <p:nvSpPr>
          <p:cNvPr id="91" name="Google Shape;91;p14"/>
          <p:cNvSpPr txBox="1"/>
          <p:nvPr>
            <p:ph type="title"/>
          </p:nvPr>
        </p:nvSpPr>
        <p:spPr>
          <a:xfrm>
            <a:off x="311700" y="16178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t-BR" sz="1820">
                <a:solidFill>
                  <a:srgbClr val="D97706"/>
                </a:solidFill>
              </a:rPr>
              <a:t>Premissas</a:t>
            </a:r>
            <a:endParaRPr sz="1820">
              <a:solidFill>
                <a:srgbClr val="D97706"/>
              </a:solidFill>
            </a:endParaRPr>
          </a:p>
        </p:txBody>
      </p:sp>
      <p:sp>
        <p:nvSpPr>
          <p:cNvPr id="92" name="Google Shape;92;p14"/>
          <p:cNvSpPr txBox="1"/>
          <p:nvPr>
            <p:ph idx="1" type="body"/>
          </p:nvPr>
        </p:nvSpPr>
        <p:spPr>
          <a:xfrm>
            <a:off x="311700" y="2093925"/>
            <a:ext cx="8520600" cy="2297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1" lang="pt-BR" sz="1100">
                <a:solidFill>
                  <a:schemeClr val="dk1"/>
                </a:solidFill>
              </a:rPr>
              <a:t>-</a:t>
            </a:r>
            <a:r>
              <a:rPr lang="pt-BR" sz="1100">
                <a:solidFill>
                  <a:schemeClr val="dk1"/>
                </a:solidFill>
              </a:rPr>
              <a:t> Como não é indicado se outros dados históricos serão consumidos , estou assumindo que a necessidade de dados históricos , se limita apenas as transações e as regras de limite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1" lang="pt-BR" sz="1100">
                <a:solidFill>
                  <a:schemeClr val="dk1"/>
                </a:solidFill>
              </a:rPr>
              <a:t>- </a:t>
            </a:r>
            <a:r>
              <a:rPr lang="pt-BR" sz="1100">
                <a:solidFill>
                  <a:schemeClr val="dk1"/>
                </a:solidFill>
              </a:rPr>
              <a:t>Não está informado, mas estou assumindo que</a:t>
            </a:r>
            <a:r>
              <a:rPr b="1" lang="pt-BR" sz="1100">
                <a:solidFill>
                  <a:schemeClr val="dk1"/>
                </a:solidFill>
              </a:rPr>
              <a:t> </a:t>
            </a:r>
            <a:r>
              <a:rPr lang="pt-BR" sz="1100">
                <a:solidFill>
                  <a:schemeClr val="dk1"/>
                </a:solidFill>
              </a:rPr>
              <a:t>o limite de valor por tipo de transação é diário ,  ou seja no dia seguinte os limites são retomados aos valores iniciais e um novo ciclo de consumo começa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1" lang="pt-BR" sz="1100">
                <a:solidFill>
                  <a:schemeClr val="dk1"/>
                </a:solidFill>
              </a:rPr>
              <a:t>- </a:t>
            </a:r>
            <a:r>
              <a:rPr lang="pt-BR" sz="1100">
                <a:solidFill>
                  <a:schemeClr val="dk1"/>
                </a:solidFill>
              </a:rPr>
              <a:t>Não está informado , mas por conta da natureza do serviço , estou assumindo que há necessidade de dados em near real time , e para isso a solução envolve ferramenta de cdc e stream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pt-BR" sz="1100">
                <a:solidFill>
                  <a:schemeClr val="dk1"/>
                </a:solidFill>
              </a:rPr>
              <a:t>- Não está declarada a necessidade de ambiente de DR (Disaster Recovery), por conta disso a proposta só cobre HA (High Availability).</a:t>
            </a:r>
            <a:endParaRPr sz="11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5"/>
          <p:cNvSpPr txBox="1"/>
          <p:nvPr>
            <p:ph type="title"/>
          </p:nvPr>
        </p:nvSpPr>
        <p:spPr>
          <a:xfrm>
            <a:off x="311700" y="2044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t-BR" sz="1820">
                <a:solidFill>
                  <a:srgbClr val="D97706"/>
                </a:solidFill>
              </a:rPr>
              <a:t>Modelo Lógico</a:t>
            </a:r>
            <a:endParaRPr sz="1820">
              <a:solidFill>
                <a:srgbClr val="D97706"/>
              </a:solidFill>
            </a:endParaRPr>
          </a:p>
        </p:txBody>
      </p:sp>
      <p:pic>
        <p:nvPicPr>
          <p:cNvPr id="98" name="Google Shape;98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8475" y="586238"/>
            <a:ext cx="8839198" cy="397102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16"/>
          <p:cNvSpPr txBox="1"/>
          <p:nvPr>
            <p:ph type="title"/>
          </p:nvPr>
        </p:nvSpPr>
        <p:spPr>
          <a:xfrm>
            <a:off x="311700" y="2044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t-BR" sz="1820">
                <a:solidFill>
                  <a:srgbClr val="D97706"/>
                </a:solidFill>
              </a:rPr>
              <a:t>Modelo Físico</a:t>
            </a:r>
            <a:endParaRPr sz="1820">
              <a:solidFill>
                <a:srgbClr val="D97706"/>
              </a:solidFill>
            </a:endParaRPr>
          </a:p>
        </p:txBody>
      </p:sp>
      <p:pic>
        <p:nvPicPr>
          <p:cNvPr id="104" name="Google Shape;104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63375" y="653275"/>
            <a:ext cx="8614674" cy="4156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7"/>
          <p:cNvSpPr txBox="1"/>
          <p:nvPr>
            <p:ph idx="4294967295" type="title"/>
          </p:nvPr>
        </p:nvSpPr>
        <p:spPr>
          <a:xfrm>
            <a:off x="152400" y="2661975"/>
            <a:ext cx="1306500" cy="378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75000"/>
              <a:buNone/>
            </a:pPr>
            <a:r>
              <a:rPr b="1" lang="pt-BR" sz="1320">
                <a:solidFill>
                  <a:schemeClr val="lt1"/>
                </a:solidFill>
              </a:rPr>
              <a:t>Contrato</a:t>
            </a:r>
            <a:endParaRPr b="1" sz="1320">
              <a:solidFill>
                <a:schemeClr val="lt1"/>
              </a:solidFill>
            </a:endParaRPr>
          </a:p>
        </p:txBody>
      </p:sp>
      <p:pic>
        <p:nvPicPr>
          <p:cNvPr id="110" name="Google Shape;110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" y="3115250"/>
            <a:ext cx="3991170" cy="1875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1" name="Google Shape;111;p1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152400"/>
            <a:ext cx="8839201" cy="2509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18"/>
          <p:cNvSpPr txBox="1"/>
          <p:nvPr/>
        </p:nvSpPr>
        <p:spPr>
          <a:xfrm>
            <a:off x="193675" y="331500"/>
            <a:ext cx="8301900" cy="430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pt-BR" sz="1000" u="none" cap="none" strike="noStrike">
                <a:solidFill>
                  <a:srgbClr val="D97706"/>
                </a:solidFill>
                <a:latin typeface="Arial"/>
                <a:ea typeface="Arial"/>
                <a:cs typeface="Arial"/>
                <a:sym typeface="Arial"/>
              </a:rPr>
              <a:t>Principais Decisões</a:t>
            </a:r>
            <a:endParaRPr b="1" i="0" sz="1000" u="none" cap="none" strike="noStrike">
              <a:solidFill>
                <a:srgbClr val="D97706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pt-BR" sz="800" u="none" cap="none" strike="noStrike">
                <a:solidFill>
                  <a:srgbClr val="D97706"/>
                </a:solidFill>
                <a:latin typeface="Arial"/>
                <a:ea typeface="Arial"/>
                <a:cs typeface="Arial"/>
                <a:sym typeface="Arial"/>
              </a:rPr>
              <a:t>Arquitetura Orientada a Eventos baseada em CDC :</a:t>
            </a:r>
            <a:r>
              <a:rPr b="0" i="0" lang="pt-BR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Utilização de uma ferramenta de CDC para consumir o </a:t>
            </a:r>
            <a:r>
              <a:rPr b="0" i="1" lang="pt-BR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RedoLog</a:t>
            </a:r>
            <a:r>
              <a:rPr b="0" i="0" lang="pt-BR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de um banco de dados relacional e enviar eventos de manipulação de dados para um barramento de streaming.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pt-BR" sz="800" u="none" cap="none" strike="noStrike">
                <a:solidFill>
                  <a:srgbClr val="D97706"/>
                </a:solidFill>
                <a:latin typeface="Arial"/>
                <a:ea typeface="Arial"/>
                <a:cs typeface="Arial"/>
                <a:sym typeface="Arial"/>
              </a:rPr>
              <a:t>Uso de Streaming e Processamento em Tempo Real:</a:t>
            </a:r>
            <a:r>
              <a:rPr b="0" i="0" lang="pt-BR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Adoção de serviços gerenciados de streaming  integrados a uma ferramenta de processamento de stream para transformar, enriquecer e despachar dados para tópicos de leitura com suporte a </a:t>
            </a:r>
            <a:r>
              <a:rPr b="0" i="1" lang="pt-BR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backoff</a:t>
            </a:r>
            <a:r>
              <a:rPr b="0" i="0" lang="pt-BR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exponencial e </a:t>
            </a:r>
            <a:r>
              <a:rPr b="0" i="1" lang="pt-BR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Dead Letter Queue</a:t>
            </a:r>
            <a:r>
              <a:rPr b="0" i="0" lang="pt-BR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(DLQ).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pt-BR" sz="800" u="none" cap="none" strike="noStrike">
                <a:solidFill>
                  <a:srgbClr val="D97706"/>
                </a:solidFill>
                <a:latin typeface="Arial"/>
                <a:ea typeface="Arial"/>
                <a:cs typeface="Arial"/>
                <a:sym typeface="Arial"/>
              </a:rPr>
              <a:t>Exposição de APIs Desacopladas:</a:t>
            </a:r>
            <a:r>
              <a:rPr b="0" i="0" lang="pt-BR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Implementação de um fluxo de entrada com API Gateway conectado a uma API de transação que processa solicitações vindas de múltiplos canais e interage com o banco de dados relacional.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pt-BR" sz="1000" u="none" cap="none" strike="noStrike">
                <a:solidFill>
                  <a:srgbClr val="D97706"/>
                </a:solidFill>
                <a:latin typeface="Arial"/>
                <a:ea typeface="Arial"/>
                <a:cs typeface="Arial"/>
                <a:sym typeface="Arial"/>
              </a:rPr>
              <a:t> Principais Trade-offs</a:t>
            </a:r>
            <a:r>
              <a:rPr b="1" i="0" lang="pt-BR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1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pt-BR" sz="800" u="none" cap="none" strike="noStrike">
                <a:solidFill>
                  <a:srgbClr val="D97706"/>
                </a:solidFill>
                <a:latin typeface="Arial"/>
                <a:ea typeface="Arial"/>
                <a:cs typeface="Arial"/>
                <a:sym typeface="Arial"/>
              </a:rPr>
              <a:t>CDC via RedoLog vs. Consultas na Aplicação:</a:t>
            </a:r>
            <a:br>
              <a:rPr b="1" i="0" lang="pt-BR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endParaRPr b="1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794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Char char="○"/>
            </a:pPr>
            <a:r>
              <a:rPr b="0" i="1" lang="pt-BR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Vantagem:</a:t>
            </a:r>
            <a:r>
              <a:rPr b="0" i="0" lang="pt-BR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Desacopla o banco de dados transacional de sistemas analíticos ou de leitura, evitando sobrecarga nas tabelas transacionais.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794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Char char="○"/>
            </a:pPr>
            <a:r>
              <a:rPr b="0" i="1" lang="pt-BR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Desvantagem:</a:t>
            </a:r>
            <a:r>
              <a:rPr b="0" i="0" lang="pt-BR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Maior complexidade operacional na configuração e monitoramento da ferramenta de CDC e dos </a:t>
            </a:r>
            <a:r>
              <a:rPr b="0" i="1" lang="pt-BR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pipelines</a:t>
            </a:r>
            <a:r>
              <a:rPr b="0" i="0" lang="pt-BR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de streaming.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pt-BR" sz="800" u="none" cap="none" strike="noStrike">
                <a:solidFill>
                  <a:srgbClr val="D97706"/>
                </a:solidFill>
                <a:latin typeface="Arial"/>
                <a:ea typeface="Arial"/>
                <a:cs typeface="Arial"/>
                <a:sym typeface="Arial"/>
              </a:rPr>
              <a:t>Processamento em Tempo Real (Stream Processing) vs. Carga em Lotes (Batch):</a:t>
            </a:r>
            <a:br>
              <a:rPr b="1" i="0" lang="pt-BR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endParaRPr b="1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794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Char char="○"/>
            </a:pPr>
            <a:r>
              <a:rPr b="0" i="1" lang="pt-BR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Vantagem:</a:t>
            </a:r>
            <a:r>
              <a:rPr b="0" i="0" lang="pt-BR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Disponibilidade imediata dos dados transformados e enriquecidos para os tópicos de consumo.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794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Char char="○"/>
            </a:pPr>
            <a:r>
              <a:rPr b="0" i="1" lang="pt-BR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Desvantagem:</a:t>
            </a:r>
            <a:r>
              <a:rPr b="0" i="0" lang="pt-BR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Custos operacionais mais elevados e maior complexidade de arquitetura em comparação com processamentos periódicos em lote.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pt-BR" sz="1000" u="none" cap="none" strike="noStrike">
                <a:solidFill>
                  <a:srgbClr val="D97706"/>
                </a:solidFill>
                <a:latin typeface="Arial"/>
                <a:ea typeface="Arial"/>
                <a:cs typeface="Arial"/>
                <a:sym typeface="Arial"/>
              </a:rPr>
              <a:t>Principais Riscos</a:t>
            </a:r>
            <a:endParaRPr b="1" i="0" sz="1000" u="none" cap="none" strike="noStrike">
              <a:solidFill>
                <a:srgbClr val="D97706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pt-BR" sz="800" u="none" cap="none" strike="noStrike">
                <a:solidFill>
                  <a:srgbClr val="D97706"/>
                </a:solidFill>
                <a:latin typeface="Arial"/>
                <a:ea typeface="Arial"/>
                <a:cs typeface="Arial"/>
                <a:sym typeface="Arial"/>
              </a:rPr>
              <a:t>Gargalos ou Falhas no Consumo do RedoLog:</a:t>
            </a:r>
            <a:r>
              <a:rPr b="0" i="0" lang="pt-BR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Se a ferramenta de CDC falhar ou ficar lenta ao consumir o </a:t>
            </a:r>
            <a:r>
              <a:rPr b="0" i="1" lang="pt-BR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RedoLog</a:t>
            </a:r>
            <a:r>
              <a:rPr b="0" i="0" lang="pt-BR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do banco relacional, isso pode gerar impacto na performance do banco de dados principal ou atrasos severos na replicação dos eventos.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pt-BR" sz="800" u="none" cap="none" strike="noStrike">
                <a:solidFill>
                  <a:srgbClr val="D97706"/>
                </a:solidFill>
                <a:latin typeface="Arial"/>
                <a:ea typeface="Arial"/>
                <a:cs typeface="Arial"/>
                <a:sym typeface="Arial"/>
              </a:rPr>
              <a:t>Complexidade na Tratativa de Erros e Resiliência:</a:t>
            </a:r>
            <a:r>
              <a:rPr b="0" i="0" lang="pt-BR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Apesar de contar com </a:t>
            </a:r>
            <a:r>
              <a:rPr b="0" i="1" lang="pt-BR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backoff</a:t>
            </a:r>
            <a:r>
              <a:rPr b="0" i="0" lang="pt-BR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exponencial e DLQ nos tópicos de leitura, falhas mal configuradas no processamento de stream (</a:t>
            </a:r>
            <a:r>
              <a:rPr b="0" i="1" lang="pt-BR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Stream Processing</a:t>
            </a:r>
            <a:r>
              <a:rPr b="0" i="0" lang="pt-BR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) podem resultar em perda de eventos, mensagens duplicadas ou travamento no fluxo de dados.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pt-BR" sz="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Ponto Único de Falha Operacional:</a:t>
            </a:r>
            <a:r>
              <a:rPr b="0" i="0" lang="pt-BR" sz="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A dependência de múltiplos componentes gerenciados em cadeia (API Gateway  API de Transação  Banco  CDC  Streaming  Stream Processing  Streaming de Destino) aumenta a superfície de falhas sistêmicas, exigindo observabilidade robusta em ponta a ponta.</a:t>
            </a:r>
            <a:endParaRPr b="1" i="0" sz="9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" name="Google Shape;117;p18"/>
          <p:cNvSpPr txBox="1"/>
          <p:nvPr>
            <p:ph idx="4294967295" type="title"/>
          </p:nvPr>
        </p:nvSpPr>
        <p:spPr>
          <a:xfrm>
            <a:off x="2057250" y="120675"/>
            <a:ext cx="3259200" cy="434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91"/>
              <a:buNone/>
            </a:pPr>
            <a:r>
              <a:rPr b="1" lang="pt-BR" sz="1388">
                <a:solidFill>
                  <a:srgbClr val="D97706"/>
                </a:solidFill>
              </a:rPr>
              <a:t>Decisões, trade-offs e riscos</a:t>
            </a:r>
            <a:endParaRPr b="1" sz="1388">
              <a:solidFill>
                <a:srgbClr val="D97706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19"/>
          <p:cNvSpPr txBox="1"/>
          <p:nvPr>
            <p:ph idx="4294967295" type="title"/>
          </p:nvPr>
        </p:nvSpPr>
        <p:spPr>
          <a:xfrm>
            <a:off x="428475" y="1073175"/>
            <a:ext cx="3259200" cy="434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91"/>
              <a:buNone/>
            </a:pPr>
            <a:r>
              <a:rPr b="1" lang="pt-BR" sz="3488">
                <a:solidFill>
                  <a:srgbClr val="D97706"/>
                </a:solidFill>
              </a:rPr>
              <a:t>Obrigada!</a:t>
            </a:r>
            <a:endParaRPr b="1" sz="3488">
              <a:solidFill>
                <a:srgbClr val="D97706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