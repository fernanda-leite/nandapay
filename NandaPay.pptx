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Plus Jakarta Sans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PlusJakartaSans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PlusJakartaSans-italic.fntdata"/><Relationship Id="rId14" Type="http://schemas.openxmlformats.org/officeDocument/2006/relationships/font" Target="fonts/PlusJakartaSans-bold.fntdata"/><Relationship Id="rId16" Type="http://schemas.openxmlformats.org/officeDocument/2006/relationships/font" Target="fonts/PlusJakarta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" name="Google Shape;5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" name="Google Shape;10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7" name="Google Shape;17;p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8" name="Google Shape;18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image" Target="../media/image3.jpg"/><Relationship Id="rId10" Type="http://schemas.openxmlformats.org/officeDocument/2006/relationships/image" Target="../media/image11.jpg"/><Relationship Id="rId13" Type="http://schemas.openxmlformats.org/officeDocument/2006/relationships/image" Target="../media/image7.jpg"/><Relationship Id="rId1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9" Type="http://schemas.openxmlformats.org/officeDocument/2006/relationships/image" Target="../media/image13.png"/><Relationship Id="rId15" Type="http://schemas.openxmlformats.org/officeDocument/2006/relationships/image" Target="../media/image10.jpg"/><Relationship Id="rId14" Type="http://schemas.openxmlformats.org/officeDocument/2006/relationships/image" Target="../media/image14.jpg"/><Relationship Id="rId17" Type="http://schemas.openxmlformats.org/officeDocument/2006/relationships/image" Target="../media/image16.jpg"/><Relationship Id="rId16" Type="http://schemas.openxmlformats.org/officeDocument/2006/relationships/image" Target="../media/image17.jpg"/><Relationship Id="rId5" Type="http://schemas.openxmlformats.org/officeDocument/2006/relationships/image" Target="../media/image12.png"/><Relationship Id="rId6" Type="http://schemas.openxmlformats.org/officeDocument/2006/relationships/image" Target="../media/image5.png"/><Relationship Id="rId7" Type="http://schemas.openxmlformats.org/officeDocument/2006/relationships/image" Target="../media/image15.png"/><Relationship Id="rId8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fernanda-leite/NandaPay/blob/main/Nandapay.sql" TargetMode="External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1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9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3343275" y="1247250"/>
            <a:ext cx="2714700" cy="1948500"/>
          </a:xfrm>
          <a:prstGeom prst="roundRect">
            <a:avLst>
              <a:gd fmla="val 824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6115050" y="1247254"/>
            <a:ext cx="2628900" cy="1386000"/>
          </a:xfrm>
          <a:prstGeom prst="roundRect">
            <a:avLst>
              <a:gd fmla="val 824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3331875" y="3302550"/>
            <a:ext cx="2628900" cy="1482600"/>
          </a:xfrm>
          <a:prstGeom prst="roundRect">
            <a:avLst>
              <a:gd fmla="val 824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6115050" y="2928416"/>
            <a:ext cx="2628900" cy="1386000"/>
          </a:xfrm>
          <a:prstGeom prst="roundRect">
            <a:avLst>
              <a:gd fmla="val 824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58" name="Google Shape;5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050" y="1132954"/>
            <a:ext cx="2714625" cy="31432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9" name="Google Shape;59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21869" y="1425847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0" name="Google Shape;60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93644" y="1425847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1" name="Google Shape;61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21844" y="3338010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2" name="Google Shape;62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93644" y="3107010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3" name="Google Shape;63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600450" y="1504429"/>
            <a:ext cx="128588" cy="1285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4" name="Google Shape;64;p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86513" y="1504429"/>
            <a:ext cx="100013" cy="1285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5" name="Google Shape;65;p1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600450" y="3414191"/>
            <a:ext cx="128588" cy="1285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6" name="Google Shape;66;p1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372225" y="3185591"/>
            <a:ext cx="128588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3"/>
          <p:cNvSpPr txBox="1"/>
          <p:nvPr/>
        </p:nvSpPr>
        <p:spPr>
          <a:xfrm>
            <a:off x="400050" y="342900"/>
            <a:ext cx="4857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QUEM SOU EU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3"/>
          <p:cNvSpPr txBox="1"/>
          <p:nvPr/>
        </p:nvSpPr>
        <p:spPr>
          <a:xfrm>
            <a:off x="400050" y="528638"/>
            <a:ext cx="5100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pt-BR" sz="24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Muito prazer, Fernanda!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3"/>
          <p:cNvSpPr txBox="1"/>
          <p:nvPr/>
        </p:nvSpPr>
        <p:spPr>
          <a:xfrm>
            <a:off x="3521869" y="1797322"/>
            <a:ext cx="29817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Como tudo começou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3532506" y="2009891"/>
            <a:ext cx="2343300" cy="11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Nascida em 1978, em SP, filha de um comerciante e de uma dona de casa. Estudei em colégio de freiras na minha infância e início de adolescência. E nas aulas de comércio , conheci o ensino técnico, então, no ano de 1994,  tive o primeiro contato com  TI, no colégio técnico de Processamento de Dados. 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6293644" y="1797322"/>
            <a:ext cx="2850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Fatos Curiosos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6293644" y="2004491"/>
            <a:ext cx="2343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Apesar de ser da área de exatas, gosto muito de história, e sempre que posso , procuro conhecer in loco,  lugares históricos. O lugar histórico mais impressionante que conheci ,  foi  Pompéia 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3474669" y="3609235"/>
            <a:ext cx="29817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Fora do Trabalho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13"/>
          <p:cNvSpPr txBox="1"/>
          <p:nvPr/>
        </p:nvSpPr>
        <p:spPr>
          <a:xfrm>
            <a:off x="3474669" y="3824804"/>
            <a:ext cx="23433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dia a dia, gosto de  praticar esportes. Regularmente  pratico musculação , patinação e pilates, e quando possível, gosto de praticar kitesurf e ski. Atualmente além dos esportes ,  estou viciada também em criar agentes de  IA.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3"/>
          <p:cNvSpPr txBox="1"/>
          <p:nvPr/>
        </p:nvSpPr>
        <p:spPr>
          <a:xfrm>
            <a:off x="6293644" y="3478485"/>
            <a:ext cx="2850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Dono da minha casa, e do meu coração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3"/>
          <p:cNvSpPr txBox="1"/>
          <p:nvPr/>
        </p:nvSpPr>
        <p:spPr>
          <a:xfrm>
            <a:off x="6293644" y="3685654"/>
            <a:ext cx="2343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tenho filhos, mas tenho um anjo em casa , sou tutora do Yuki, um lulu da pomerânia que as vezes  faz aparições especiais nas reuniões remotas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" name="Google Shape;77;p13" title="IMG_0266.jpeg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 rot="-1475084">
            <a:off x="607041" y="2575897"/>
            <a:ext cx="773551" cy="969848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3" title="IMG_0269.jpeg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 rot="-1730043">
            <a:off x="1008362" y="3357980"/>
            <a:ext cx="900531" cy="8884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3" title="Neve.png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 rot="-1217383">
            <a:off x="2093822" y="3139942"/>
            <a:ext cx="881484" cy="1324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3" title="IMG_0265.jpeg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 rot="-1196168">
            <a:off x="550162" y="1312631"/>
            <a:ext cx="887306" cy="1255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3" title="Neve.jpeg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 rot="-1656401">
            <a:off x="2054147" y="2937957"/>
            <a:ext cx="1039423" cy="1385887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3" title="IMG_0267.jpeg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 rot="-1683757">
            <a:off x="1348256" y="2119528"/>
            <a:ext cx="1078384" cy="120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3" title="yuki.jpg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 rot="-1681550">
            <a:off x="1552964" y="1135232"/>
            <a:ext cx="1202525" cy="1403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3" title="20170217_140626.jpg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 rot="-1701587">
            <a:off x="2289730" y="1993996"/>
            <a:ext cx="866631" cy="11555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/>
          <p:nvPr>
            <p:ph type="title"/>
          </p:nvPr>
        </p:nvSpPr>
        <p:spPr>
          <a:xfrm>
            <a:off x="311700" y="2175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>
                <a:solidFill>
                  <a:srgbClr val="D97706"/>
                </a:solidFill>
              </a:rPr>
              <a:t>Entendimento do problema</a:t>
            </a:r>
            <a:endParaRPr sz="1820">
              <a:solidFill>
                <a:srgbClr val="D97706"/>
              </a:solidFill>
            </a:endParaRPr>
          </a:p>
        </p:txBody>
      </p:sp>
      <p:sp>
        <p:nvSpPr>
          <p:cNvPr id="90" name="Google Shape;90;p14"/>
          <p:cNvSpPr txBox="1"/>
          <p:nvPr>
            <p:ph idx="1" type="body"/>
          </p:nvPr>
        </p:nvSpPr>
        <p:spPr>
          <a:xfrm>
            <a:off x="311700" y="863550"/>
            <a:ext cx="8520600" cy="7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100">
                <a:solidFill>
                  <a:schemeClr val="dk1"/>
                </a:solidFill>
              </a:rPr>
              <a:t>O objetivo principal é substituir uma aplicação monolítica e legada de controle de limites por uma </a:t>
            </a:r>
            <a:r>
              <a:rPr b="1" lang="pt-BR" sz="1100">
                <a:solidFill>
                  <a:schemeClr val="dk1"/>
                </a:solidFill>
              </a:rPr>
              <a:t>arquitetura moderna, desacoplada e escalável</a:t>
            </a:r>
            <a:r>
              <a:rPr lang="pt-BR" sz="1100">
                <a:solidFill>
                  <a:schemeClr val="dk1"/>
                </a:solidFill>
              </a:rPr>
              <a:t>. Essa nova solução precisa atender a múltiplos canais digitais e físicos , garantindo baixa latência, alta disponibilidade e rastreabilidade total das decisões. </a:t>
            </a:r>
            <a:endParaRPr/>
          </a:p>
        </p:txBody>
      </p:sp>
      <p:sp>
        <p:nvSpPr>
          <p:cNvPr id="91" name="Google Shape;91;p14"/>
          <p:cNvSpPr txBox="1"/>
          <p:nvPr>
            <p:ph type="title"/>
          </p:nvPr>
        </p:nvSpPr>
        <p:spPr>
          <a:xfrm>
            <a:off x="311700" y="16178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>
                <a:solidFill>
                  <a:srgbClr val="D97706"/>
                </a:solidFill>
              </a:rPr>
              <a:t>Premissas</a:t>
            </a:r>
            <a:endParaRPr sz="1820">
              <a:solidFill>
                <a:srgbClr val="D97706"/>
              </a:solidFill>
            </a:endParaRPr>
          </a:p>
        </p:txBody>
      </p:sp>
      <p:sp>
        <p:nvSpPr>
          <p:cNvPr id="92" name="Google Shape;92;p14"/>
          <p:cNvSpPr txBox="1"/>
          <p:nvPr>
            <p:ph idx="1" type="body"/>
          </p:nvPr>
        </p:nvSpPr>
        <p:spPr>
          <a:xfrm>
            <a:off x="311700" y="2093925"/>
            <a:ext cx="8520600" cy="22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pt-BR" sz="1100">
                <a:solidFill>
                  <a:schemeClr val="dk1"/>
                </a:solidFill>
              </a:rPr>
              <a:t>-</a:t>
            </a:r>
            <a:r>
              <a:rPr lang="pt-BR" sz="1100">
                <a:solidFill>
                  <a:schemeClr val="dk1"/>
                </a:solidFill>
              </a:rPr>
              <a:t> A necessidade de dados históricos , se limita apenas as transações e as regras de limite;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pt-BR" sz="1100">
                <a:solidFill>
                  <a:schemeClr val="dk1"/>
                </a:solidFill>
              </a:rPr>
              <a:t>- </a:t>
            </a:r>
            <a:r>
              <a:rPr lang="pt-BR" sz="1100">
                <a:solidFill>
                  <a:schemeClr val="dk1"/>
                </a:solidFill>
              </a:rPr>
              <a:t>O</a:t>
            </a:r>
            <a:r>
              <a:rPr lang="pt-BR" sz="1100">
                <a:solidFill>
                  <a:schemeClr val="dk1"/>
                </a:solidFill>
              </a:rPr>
              <a:t> limite de valor por tipo de transação é diário, ou seja no dia seguinte os limites são retomados aos valores iniciais e um novo ciclo de consumo começa;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pt-BR" sz="1100">
                <a:solidFill>
                  <a:schemeClr val="dk1"/>
                </a:solidFill>
              </a:rPr>
              <a:t>- </a:t>
            </a:r>
            <a:r>
              <a:rPr lang="pt-BR" sz="1100">
                <a:solidFill>
                  <a:schemeClr val="dk1"/>
                </a:solidFill>
              </a:rPr>
              <a:t>P</a:t>
            </a:r>
            <a:r>
              <a:rPr lang="pt-BR" sz="1100">
                <a:solidFill>
                  <a:schemeClr val="dk1"/>
                </a:solidFill>
              </a:rPr>
              <a:t>or conta da natureza do serviço , estou assumindo que há necessidade de dados em near real time;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100">
                <a:solidFill>
                  <a:schemeClr val="dk1"/>
                </a:solidFill>
              </a:rPr>
              <a:t>- Apesar de ser um cenário aparentemente crítico , não coloquei na solução ambiente de DR, pois haveria necessidade de outras informações (RTO,RPO, etc)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311700" y="204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>
                <a:solidFill>
                  <a:srgbClr val="D97706"/>
                </a:solidFill>
              </a:rPr>
              <a:t>Modelo Lógico</a:t>
            </a:r>
            <a:endParaRPr sz="1820">
              <a:solidFill>
                <a:srgbClr val="D97706"/>
              </a:solidFill>
            </a:endParaRPr>
          </a:p>
        </p:txBody>
      </p:sp>
      <p:pic>
        <p:nvPicPr>
          <p:cNvPr id="98" name="Google Shape;9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929500"/>
            <a:ext cx="8839200" cy="399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>
            <p:ph type="title"/>
          </p:nvPr>
        </p:nvSpPr>
        <p:spPr>
          <a:xfrm>
            <a:off x="311700" y="204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>
                <a:solidFill>
                  <a:srgbClr val="D97706"/>
                </a:solidFill>
              </a:rPr>
              <a:t>Modelo Físico</a:t>
            </a:r>
            <a:endParaRPr sz="1820">
              <a:solidFill>
                <a:srgbClr val="D97706"/>
              </a:solidFill>
            </a:endParaRPr>
          </a:p>
        </p:txBody>
      </p:sp>
      <p:pic>
        <p:nvPicPr>
          <p:cNvPr id="104" name="Google Shape;104;p16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929500"/>
            <a:ext cx="8679901" cy="406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>
            <p:ph idx="4294967295" type="title"/>
          </p:nvPr>
        </p:nvSpPr>
        <p:spPr>
          <a:xfrm>
            <a:off x="152400" y="2661975"/>
            <a:ext cx="1306500" cy="37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75000"/>
              <a:buNone/>
            </a:pPr>
            <a:r>
              <a:rPr b="1" lang="pt-BR" sz="1320">
                <a:solidFill>
                  <a:schemeClr val="lt1"/>
                </a:solidFill>
              </a:rPr>
              <a:t>Contrato</a:t>
            </a:r>
            <a:endParaRPr b="1" sz="1320">
              <a:solidFill>
                <a:schemeClr val="lt1"/>
              </a:solidFill>
            </a:endParaRPr>
          </a:p>
        </p:txBody>
      </p:sp>
      <p:pic>
        <p:nvPicPr>
          <p:cNvPr id="110" name="Google Shape;11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192675"/>
            <a:ext cx="4110686" cy="1798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7"/>
          <p:cNvSpPr txBox="1"/>
          <p:nvPr/>
        </p:nvSpPr>
        <p:spPr>
          <a:xfrm>
            <a:off x="4695825" y="2990850"/>
            <a:ext cx="4110600" cy="19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chemeClr val="dk2"/>
                </a:solidFill>
              </a:rPr>
              <a:t>O que não deve constar no json do evento</a:t>
            </a:r>
            <a:endParaRPr sz="10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2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Char char="-"/>
            </a:pPr>
            <a:r>
              <a:rPr lang="pt-BR" sz="1000">
                <a:solidFill>
                  <a:schemeClr val="dk2"/>
                </a:solidFill>
              </a:rPr>
              <a:t>Dados sensíveis e PII: Riscos de vazamento</a:t>
            </a:r>
            <a:endParaRPr sz="1000">
              <a:solidFill>
                <a:schemeClr val="dk2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Char char="-"/>
            </a:pPr>
            <a:r>
              <a:rPr lang="pt-BR" sz="1000">
                <a:solidFill>
                  <a:schemeClr val="dk2"/>
                </a:solidFill>
              </a:rPr>
              <a:t>Ids auto incrementais: expõe volumetria do negócio</a:t>
            </a:r>
            <a:endParaRPr sz="1000">
              <a:solidFill>
                <a:schemeClr val="dk2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Char char="-"/>
            </a:pPr>
            <a:r>
              <a:rPr lang="pt-BR" sz="1000">
                <a:solidFill>
                  <a:schemeClr val="dk2"/>
                </a:solidFill>
              </a:rPr>
              <a:t>Registro inteiro (Fat events): gera alto acoplamento, se o produtor mudar a estrutura do registro, pode quebrar os consumidores.</a:t>
            </a:r>
            <a:endParaRPr sz="1000">
              <a:solidFill>
                <a:schemeClr val="dk2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Char char="-"/>
            </a:pPr>
            <a:r>
              <a:rPr lang="pt-BR" sz="1000">
                <a:solidFill>
                  <a:schemeClr val="dk2"/>
                </a:solidFill>
              </a:rPr>
              <a:t>Arquivos pesados ou Blobs: problemas de performance e estouro de limite</a:t>
            </a:r>
            <a:endParaRPr sz="1000">
              <a:solidFill>
                <a:schemeClr val="dk2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Char char="-"/>
            </a:pPr>
            <a:r>
              <a:rPr lang="pt-BR" sz="1000">
                <a:solidFill>
                  <a:schemeClr val="dk2"/>
                </a:solidFill>
              </a:rPr>
              <a:t>Detalhes de implementação técnica (flags, tokens , etc) - Não agregam valor a quem está consumindo o evento</a:t>
            </a:r>
            <a:endParaRPr sz="1000">
              <a:solidFill>
                <a:schemeClr val="dk2"/>
              </a:solidFill>
            </a:endParaRPr>
          </a:p>
        </p:txBody>
      </p:sp>
      <p:pic>
        <p:nvPicPr>
          <p:cNvPr id="112" name="Google Shape;112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52400"/>
            <a:ext cx="8591549" cy="273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/>
          <p:nvPr/>
        </p:nvSpPr>
        <p:spPr>
          <a:xfrm>
            <a:off x="193675" y="331500"/>
            <a:ext cx="8301900" cy="43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Principais Decisões</a:t>
            </a:r>
            <a:endParaRPr b="1" i="0" sz="10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Arquitetura Orientada a Eventos baseada em CDC 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Utilização de uma ferramenta de CDC para consumir o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RedoLog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 um banco de dados relacional e enviar eventos de manipulação de dados para um barramento de streaming e para as tabelas de histórico.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Uso de Streaming e Processamento em Tempo Real: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Adoção de serviços gerenciados de streaming  integrados a uma ferramenta de processamento de stream para transformar, enriquecer e despachar dados para tópicos de leitura com suporte a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backoff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exponencial e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Dead Letter Queue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(DLQ).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Exposição de APIs Desacopladas: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Implementação de um fluxo de entrada com API Gateway conectado a uma API de transação que processa solicitações vindas de múltiplos canais e interage com o banco de dados relacional.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 Principais Trade-offs</a:t>
            </a:r>
            <a:r>
              <a:rPr b="1" i="0" lang="pt-BR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CDC via RedoLog vs. Consultas na Aplicação:</a:t>
            </a:r>
            <a:br>
              <a:rPr b="1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○"/>
            </a:pP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Vantagem: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Desacopla o banco de dados transacional de sistemas analíticos ou de leitura, evitando sobrecarga nas tabelas transacionais.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○"/>
            </a:pP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Desvantagem: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Maior complexidade operacional na configuração e monitoramento da ferramenta de CDC e dos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pipelines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 streaming.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Processamento em Tempo Real (Stream Processing) vs. Carga em Lotes (Batch):</a:t>
            </a:r>
            <a:br>
              <a:rPr b="1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○"/>
            </a:pP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Vantagem: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Disponibilidade imediata dos dados transformados e enriquecidos para os tópicos de consumo.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○"/>
            </a:pP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Desvantagem: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Custos operacionais mais elevados e maior complexidade de arquitetura em comparação com processamentos periódicos em lote.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Principais Riscos</a:t>
            </a:r>
            <a:endParaRPr b="1" i="0" sz="10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Gargalos ou Falhas no Consumo do RedoLog: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Se a ferramenta de CDC falhar ou ficar lenta ao consumir o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RedoLog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do banco relacional, isso pode gerar impacto na performance do banco de dados principal ou atrasos severos na replicação dos eventos.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Complexidade na Tratativa de Erros e Resiliência: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Apesar de contar com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backoff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exponencial e DLQ nos tópicos de leitura, falhas mal configuradas no processamento de stream (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Stream Processing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 podem resultar em perda de eventos, mensagens duplicadas ou travamento no fluxo de dados.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Ponto Único de Falha Operacional:</a:t>
            </a:r>
            <a:r>
              <a:rPr b="0" i="0" lang="pt-BR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A dependência de múltiplos componentes gerenciados em cadeia (API Gateway  API de Transação  Banco  CDC  Streaming  Stream Processing  Streaming de Destino) aumenta a superfície de falhas sistêmicas, exigindo observabilidade robusta em ponta a ponta.</a:t>
            </a:r>
            <a:endParaRPr b="1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8"/>
          <p:cNvSpPr txBox="1"/>
          <p:nvPr>
            <p:ph idx="4294967295" type="title"/>
          </p:nvPr>
        </p:nvSpPr>
        <p:spPr>
          <a:xfrm>
            <a:off x="2057250" y="120675"/>
            <a:ext cx="3259200" cy="4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b="1" lang="pt-BR" sz="1388">
                <a:solidFill>
                  <a:srgbClr val="D97706"/>
                </a:solidFill>
              </a:rPr>
              <a:t>Decisões, trade-offs e riscos</a:t>
            </a:r>
            <a:endParaRPr b="1" sz="1388">
              <a:solidFill>
                <a:srgbClr val="D97706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/>
          <p:nvPr>
            <p:ph idx="4294967295" type="title"/>
          </p:nvPr>
        </p:nvSpPr>
        <p:spPr>
          <a:xfrm>
            <a:off x="428475" y="1073175"/>
            <a:ext cx="3259200" cy="4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b="1" lang="pt-BR" sz="3488">
                <a:solidFill>
                  <a:srgbClr val="D97706"/>
                </a:solidFill>
              </a:rPr>
              <a:t>Obrigada!</a:t>
            </a:r>
            <a:endParaRPr b="1" sz="3488">
              <a:solidFill>
                <a:srgbClr val="D97706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