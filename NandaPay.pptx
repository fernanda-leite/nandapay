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5808c745e5c125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5808c745e5c125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h5808c745e5c125a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h5808c745e5c125a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5808c745e5c125a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5808c745e5c125a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5808c745e5c125a_1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5808c745e5c125a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hyperlink" Target="https://github.com/fernanda-leite/NandaPay/blob/main/Nandapay.sql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2175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/>
              <a:t>Entendimento do problema</a:t>
            </a:r>
            <a:endParaRPr sz="1820"/>
          </a:p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311700" y="863550"/>
            <a:ext cx="8520600" cy="7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1"/>
                </a:solidFill>
              </a:rPr>
              <a:t>O objetivo principal é substituir uma aplicação monolítica e legada de controle de limites por uma </a:t>
            </a:r>
            <a:r>
              <a:rPr b="1" lang="pt-BR" sz="1100">
                <a:solidFill>
                  <a:schemeClr val="dk1"/>
                </a:solidFill>
              </a:rPr>
              <a:t>arquitetura moderna, desacoplada e escalável</a:t>
            </a:r>
            <a:r>
              <a:rPr lang="pt-BR" sz="1100">
                <a:solidFill>
                  <a:schemeClr val="dk1"/>
                </a:solidFill>
              </a:rPr>
              <a:t>. Essa nova solução precisa atender a múltiplos canais digitais e físicos , garantindo baixa latência, alta disponibilidade e rastreabilidade total das decisões. </a:t>
            </a:r>
            <a:endParaRPr/>
          </a:p>
        </p:txBody>
      </p:sp>
      <p:sp>
        <p:nvSpPr>
          <p:cNvPr id="56" name="Google Shape;56;p13"/>
          <p:cNvSpPr txBox="1"/>
          <p:nvPr>
            <p:ph type="title"/>
          </p:nvPr>
        </p:nvSpPr>
        <p:spPr>
          <a:xfrm>
            <a:off x="311700" y="16178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/>
              <a:t>Premissas</a:t>
            </a:r>
            <a:endParaRPr sz="1820"/>
          </a:p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311700" y="2198700"/>
            <a:ext cx="8520600" cy="229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b="1" lang="pt-BR" sz="1100">
                <a:solidFill>
                  <a:schemeClr val="dk1"/>
                </a:solidFill>
              </a:rPr>
              <a:t>Modelo de Dados e Histórico:</a:t>
            </a:r>
            <a:r>
              <a:rPr lang="pt-BR" sz="1100">
                <a:solidFill>
                  <a:schemeClr val="dk1"/>
                </a:solidFill>
              </a:rPr>
              <a:t> As alterações de limites , bem como as novas transações.Cada inclusão ou modificação gera uma nova versão do registro na tabela de histórico, garantindo que os registros possam ser consultadas retroativamente ou auditadas;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b="1" lang="pt-BR" sz="1100">
                <a:solidFill>
                  <a:schemeClr val="dk1"/>
                </a:solidFill>
              </a:rPr>
              <a:t>Chave de Idempotência:</a:t>
            </a:r>
            <a:r>
              <a:rPr lang="pt-BR" sz="1100">
                <a:solidFill>
                  <a:schemeClr val="dk1"/>
                </a:solidFill>
              </a:rPr>
              <a:t> Cada solicitação de transação originada nos canais deve carregar um hash único, gerado da combinação dos parâmetros da transação, para evitar processamento duplicado.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100">
                <a:solidFill>
                  <a:schemeClr val="dk1"/>
                </a:solidFill>
              </a:rPr>
              <a:t>- </a:t>
            </a:r>
            <a:r>
              <a:rPr b="1" lang="pt-BR" sz="1100">
                <a:solidFill>
                  <a:schemeClr val="dk1"/>
                </a:solidFill>
              </a:rPr>
              <a:t>Mensageria com Dead Letter Queue (DLQ) e Retry Exponencial:</a:t>
            </a:r>
            <a:r>
              <a:rPr lang="pt-BR" sz="1100">
                <a:solidFill>
                  <a:schemeClr val="dk1"/>
                </a:solidFill>
              </a:rPr>
              <a:t> Os tópicos de mensageria devem garantir entrega garantida. Caso um sistema consumidor fique indisponível, a mensagem permanece na fila com retry exponencial, evitando um colapso por tempestade. Se falhar após esgotar n tentativas, é direcionada para uma DLQ para análise posterior, sem travar o fluxo principal da transação do cliente.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/>
              <a:t>Modelo Lógico</a:t>
            </a:r>
            <a:endParaRPr sz="1820"/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29500"/>
            <a:ext cx="8839203" cy="395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04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1820"/>
              <a:t>Modelo Físico</a:t>
            </a:r>
            <a:endParaRPr sz="1820"/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29500"/>
            <a:ext cx="8839200" cy="36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>
            <a:hlinkClick r:id="rId4"/>
          </p:cNvPr>
          <p:cNvSpPr txBox="1"/>
          <p:nvPr/>
        </p:nvSpPr>
        <p:spPr>
          <a:xfrm>
            <a:off x="466725" y="4676775"/>
            <a:ext cx="5162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</a:rPr>
              <a:t>Link script: https://github.com/fernanda-leite/NandaPay/blob/main/Nandapay.sql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idx="4294967295" type="title"/>
          </p:nvPr>
        </p:nvSpPr>
        <p:spPr>
          <a:xfrm>
            <a:off x="152400" y="2494550"/>
            <a:ext cx="1306500" cy="46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pt-BR" sz="1320"/>
              <a:t>Contrato</a:t>
            </a:r>
            <a:endParaRPr b="1" sz="1320"/>
          </a:p>
        </p:txBody>
      </p:sp>
      <p:sp>
        <p:nvSpPr>
          <p:cNvPr id="76" name="Google Shape;76;p16"/>
          <p:cNvSpPr txBox="1"/>
          <p:nvPr>
            <p:ph idx="4294967295" type="title"/>
          </p:nvPr>
        </p:nvSpPr>
        <p:spPr>
          <a:xfrm>
            <a:off x="4303300" y="2026250"/>
            <a:ext cx="1306500" cy="46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pt-BR" sz="1320"/>
              <a:t>Questões</a:t>
            </a:r>
            <a:endParaRPr b="1" sz="1320"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115250"/>
            <a:ext cx="3991170" cy="187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5970" y="2646950"/>
            <a:ext cx="4695630" cy="2230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104775"/>
            <a:ext cx="8667750" cy="192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/>
        </p:nvSpPr>
        <p:spPr>
          <a:xfrm>
            <a:off x="193675" y="733875"/>
            <a:ext cx="8301900" cy="43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 sz="1000">
                <a:solidFill>
                  <a:srgbClr val="1F1F1F"/>
                </a:solidFill>
              </a:rPr>
              <a:t>1. Inconsistência por Concorrência no Saldo de Limite </a:t>
            </a:r>
            <a:endParaRPr b="1" sz="10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pt-BR" sz="800">
                <a:solidFill>
                  <a:srgbClr val="1F1F1F"/>
                </a:solidFill>
              </a:rPr>
              <a:t>Risco:</a:t>
            </a:r>
            <a:r>
              <a:rPr lang="pt-BR" sz="800">
                <a:solidFill>
                  <a:srgbClr val="1F1F1F"/>
                </a:solidFill>
              </a:rPr>
              <a:t> Múltiplas solicitações simultâneas de transação para a mesma conta, tentando validar e consumir o mesmo limite disponível em milissegundos.</a:t>
            </a:r>
            <a:endParaRPr sz="8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pt-BR" sz="800">
                <a:solidFill>
                  <a:srgbClr val="1F1F1F"/>
                </a:solidFill>
              </a:rPr>
              <a:t>Impacto:</a:t>
            </a:r>
            <a:r>
              <a:rPr lang="pt-BR" sz="800">
                <a:solidFill>
                  <a:srgbClr val="1F1F1F"/>
                </a:solidFill>
              </a:rPr>
              <a:t> Estouro de limite,</a:t>
            </a:r>
            <a:r>
              <a:rPr b="1" lang="pt-BR" sz="800">
                <a:solidFill>
                  <a:srgbClr val="1F1F1F"/>
                </a:solidFill>
              </a:rPr>
              <a:t> </a:t>
            </a:r>
            <a:r>
              <a:rPr lang="pt-BR" sz="800">
                <a:solidFill>
                  <a:srgbClr val="1F1F1F"/>
                </a:solidFill>
              </a:rPr>
              <a:t>o banco pode autorizar transações acima do saldo permitido, gerando prejuízo financeiro direto e risco regulatório.</a:t>
            </a:r>
            <a:endParaRPr sz="8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pt-BR" sz="800">
                <a:solidFill>
                  <a:srgbClr val="1F1F1F"/>
                </a:solidFill>
              </a:rPr>
              <a:t>Estratégia de Mitigação: </a:t>
            </a:r>
            <a:r>
              <a:rPr lang="pt-BR" sz="800">
                <a:solidFill>
                  <a:srgbClr val="1F1F1F"/>
                </a:solidFill>
              </a:rPr>
              <a:t>Utilizar bloqueio pessimista (select..for update)</a:t>
            </a:r>
            <a:r>
              <a:rPr lang="pt-BR" sz="1000">
                <a:solidFill>
                  <a:srgbClr val="1F1F1F"/>
                </a:solidFill>
              </a:rPr>
              <a:t> , </a:t>
            </a:r>
            <a:r>
              <a:rPr lang="pt-BR" sz="800">
                <a:solidFill>
                  <a:srgbClr val="1F1F1F"/>
                </a:solidFill>
              </a:rPr>
              <a:t>para “prender a linha”</a:t>
            </a:r>
            <a:r>
              <a:rPr lang="pt-BR" sz="1000">
                <a:solidFill>
                  <a:srgbClr val="1F1F1F"/>
                </a:solidFill>
              </a:rPr>
              <a:t> </a:t>
            </a:r>
            <a:r>
              <a:rPr lang="pt-BR" sz="800">
                <a:solidFill>
                  <a:srgbClr val="1F1F1F"/>
                </a:solidFill>
              </a:rPr>
              <a:t>até que a transação atual seja concluída (commitada ou revertida).</a:t>
            </a:r>
            <a:endParaRPr sz="800">
              <a:solidFill>
                <a:srgbClr val="1F1F1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rgbClr val="1F1F1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 sz="1000">
                <a:solidFill>
                  <a:srgbClr val="1F1F1F"/>
                </a:solidFill>
              </a:rPr>
              <a:t>2. Divergência e Perda de Rastreabilidade das Regras de Decisão </a:t>
            </a:r>
            <a:endParaRPr b="1" sz="10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pt-BR" sz="800">
                <a:solidFill>
                  <a:srgbClr val="1F1F1F"/>
                </a:solidFill>
              </a:rPr>
              <a:t>Risco:</a:t>
            </a:r>
            <a:r>
              <a:rPr lang="pt-BR" sz="800">
                <a:solidFill>
                  <a:srgbClr val="1F1F1F"/>
                </a:solidFill>
              </a:rPr>
              <a:t> Como as regras e valores de limite mudam ao longo do tempo (e o sistema precisa evoluir de forma independente), transações podem ser avaliadas por versões diferentes de regras de negócio sem que o motivo exato da negação/aprovação fique registrado.</a:t>
            </a:r>
            <a:endParaRPr sz="8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pt-BR" sz="800">
                <a:solidFill>
                  <a:srgbClr val="1F1F1F"/>
                </a:solidFill>
              </a:rPr>
              <a:t>Impacto:</a:t>
            </a:r>
            <a:r>
              <a:rPr lang="pt-BR" sz="800">
                <a:solidFill>
                  <a:srgbClr val="1F1F1F"/>
                </a:solidFill>
              </a:rPr>
              <a:t> Impossibilidade de justificar ao cliente ou ao órgão regulador por que uma transação foi negada no passado.</a:t>
            </a:r>
            <a:endParaRPr sz="8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pt-BR" sz="800">
                <a:solidFill>
                  <a:srgbClr val="1F1F1F"/>
                </a:solidFill>
              </a:rPr>
              <a:t>Estratégia de Mitigação: </a:t>
            </a:r>
            <a:r>
              <a:rPr lang="pt-BR" sz="800">
                <a:solidFill>
                  <a:srgbClr val="1F1F1F"/>
                </a:solidFill>
              </a:rPr>
              <a:t>Snapshot de Decisão no Evento/Transação. No momento da decisão (autorização/negação), salvar junto ao registro da transação os dados do estado exato da regra aplicada.</a:t>
            </a:r>
            <a:endParaRPr sz="800">
              <a:solidFill>
                <a:srgbClr val="1F1F1F"/>
              </a:solidFill>
            </a:endParaRPr>
          </a:p>
          <a:p>
            <a:pPr indent="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rgbClr val="1F1F1F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 sz="1000">
                <a:solidFill>
                  <a:srgbClr val="1F1F1F"/>
                </a:solidFill>
              </a:rPr>
              <a:t>3. Latência Excessiva e Gargalo em Consultas/Autorizações de Alto Volume</a:t>
            </a:r>
            <a:endParaRPr b="1" sz="10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pt-BR" sz="800">
                <a:solidFill>
                  <a:srgbClr val="1F1F1F"/>
                </a:solidFill>
              </a:rPr>
              <a:t>Risco:</a:t>
            </a:r>
            <a:r>
              <a:rPr lang="pt-BR" sz="800">
                <a:solidFill>
                  <a:srgbClr val="1F1F1F"/>
                </a:solidFill>
              </a:rPr>
              <a:t> Depender do banco de dados relacional do legado ou de chamadas síncronas em cadeia para buscar contas, limites configurados, histórico e realizar a decisão de autorização.</a:t>
            </a:r>
            <a:endParaRPr sz="8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pt-BR" sz="800">
                <a:solidFill>
                  <a:srgbClr val="1F1F1F"/>
                </a:solidFill>
              </a:rPr>
              <a:t>Impacto:</a:t>
            </a:r>
            <a:r>
              <a:rPr lang="pt-BR" sz="800">
                <a:solidFill>
                  <a:srgbClr val="1F1F1F"/>
                </a:solidFill>
              </a:rPr>
              <a:t> </a:t>
            </a:r>
            <a:r>
              <a:rPr i="1" lang="pt-BR" sz="800">
                <a:solidFill>
                  <a:srgbClr val="1F1F1F"/>
                </a:solidFill>
              </a:rPr>
              <a:t>Timeouts</a:t>
            </a:r>
            <a:r>
              <a:rPr lang="pt-BR" sz="800">
                <a:solidFill>
                  <a:srgbClr val="1F1F1F"/>
                </a:solidFill>
              </a:rPr>
              <a:t> e indisponibilidade nos canais do cliente, durante picos de uso (ex: Black Friday, dia de pagamento), degradando a experiência do usuário e violando os SLAs do banco.</a:t>
            </a:r>
            <a:endParaRPr sz="800">
              <a:solidFill>
                <a:srgbClr val="1F1F1F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800"/>
              <a:buChar char="●"/>
            </a:pPr>
            <a:r>
              <a:rPr b="1" lang="pt-BR" sz="800">
                <a:solidFill>
                  <a:srgbClr val="1F1F1F"/>
                </a:solidFill>
              </a:rPr>
              <a:t>Estratégia de Mitigação: </a:t>
            </a:r>
            <a:r>
              <a:rPr lang="pt-BR" sz="800">
                <a:solidFill>
                  <a:srgbClr val="1F1F1F"/>
                </a:solidFill>
              </a:rPr>
              <a:t>Arquitetura Orientada a Eventos (EDA)</a:t>
            </a:r>
            <a:r>
              <a:rPr b="1" lang="pt-BR" sz="800">
                <a:solidFill>
                  <a:srgbClr val="1F1F1F"/>
                </a:solidFill>
              </a:rPr>
              <a:t> . </a:t>
            </a:r>
            <a:r>
              <a:rPr lang="pt-BR" sz="800">
                <a:solidFill>
                  <a:srgbClr val="1F1F1F"/>
                </a:solidFill>
              </a:rPr>
              <a:t>Notificar alterações de limites e estados de transação de forma assíncrona (via stream) para atualizar os sistemas secundários sem bloquear a linha de resposta da transação principal.</a:t>
            </a:r>
            <a:endParaRPr sz="800">
              <a:solidFill>
                <a:srgbClr val="1F1F1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5" name="Google Shape;85;p17"/>
          <p:cNvSpPr txBox="1"/>
          <p:nvPr>
            <p:ph idx="4294967295" type="title"/>
          </p:nvPr>
        </p:nvSpPr>
        <p:spPr>
          <a:xfrm>
            <a:off x="2041850" y="213075"/>
            <a:ext cx="3259200" cy="43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b="1" lang="pt-BR" sz="1388"/>
              <a:t>Riscos, impactos e mitigação</a:t>
            </a:r>
            <a:endParaRPr b="1" sz="1388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