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808c745e5c12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808c745e5c12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5808c745e5c125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5808c745e5c125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808c745e5c125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5808c745e5c125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5808c745e5c125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5808c745e5c125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7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20"/>
              <a:t>Entendimento do problema</a:t>
            </a:r>
            <a:endParaRPr sz="18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863550"/>
            <a:ext cx="8520600" cy="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 objetivo principal é substituir uma aplicação monolítica e legada de controle de limites por uma </a:t>
            </a:r>
            <a:r>
              <a:rPr b="1" lang="pt-BR" sz="1100">
                <a:solidFill>
                  <a:schemeClr val="dk1"/>
                </a:solidFill>
              </a:rPr>
              <a:t>arquitetura moderna, desacoplada e escalável</a:t>
            </a:r>
            <a:r>
              <a:rPr lang="pt-BR" sz="1100">
                <a:solidFill>
                  <a:schemeClr val="dk1"/>
                </a:solidFill>
              </a:rPr>
              <a:t>. Essa nova solução precisa atender a múltiplos canais digitais e físicos , garantindo baixa latência, alta disponibilidade e rastreabilidade total das decisões. </a:t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161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20"/>
              <a:t>Premissas</a:t>
            </a:r>
            <a:endParaRPr sz="1820"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2198700"/>
            <a:ext cx="8520600" cy="22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- </a:t>
            </a:r>
            <a:r>
              <a:rPr b="1" lang="pt-BR" sz="1100">
                <a:solidFill>
                  <a:schemeClr val="dk1"/>
                </a:solidFill>
              </a:rPr>
              <a:t>Modelo de Dados e Histórico:</a:t>
            </a:r>
            <a:r>
              <a:rPr lang="pt-BR" sz="1100">
                <a:solidFill>
                  <a:schemeClr val="dk1"/>
                </a:solidFill>
              </a:rPr>
              <a:t> As alterações de limites , bem como as novas transações.Cada inclusão ou modificação gera uma nova versão do registro na tabela de histórico, garantindo que os registros possam ser consultadas retroativamente ou auditadas;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- </a:t>
            </a:r>
            <a:r>
              <a:rPr b="1" lang="pt-BR" sz="1100">
                <a:solidFill>
                  <a:schemeClr val="dk1"/>
                </a:solidFill>
              </a:rPr>
              <a:t>Chave de Idempotência:</a:t>
            </a:r>
            <a:r>
              <a:rPr lang="pt-BR" sz="1100">
                <a:solidFill>
                  <a:schemeClr val="dk1"/>
                </a:solidFill>
              </a:rPr>
              <a:t> Cada solicitação de transação originada nos canais deve carregar um hash único, gerado da combinação dos parâmetros da transação, para evitar processamento duplicado.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- </a:t>
            </a:r>
            <a:r>
              <a:rPr b="1" lang="pt-BR" sz="1100">
                <a:solidFill>
                  <a:schemeClr val="dk1"/>
                </a:solidFill>
              </a:rPr>
              <a:t>Mensageria com Dead Letter Queue (DLQ) e Retry Exponencial:</a:t>
            </a:r>
            <a:r>
              <a:rPr lang="pt-BR" sz="1100">
                <a:solidFill>
                  <a:schemeClr val="dk1"/>
                </a:solidFill>
              </a:rPr>
              <a:t> Os tópicos de mensageria devem garantir entrega garantida. Caso um sistema consumidor fique indisponível, a mensagem permanece na fila com retry exponencial, evitando um colapso por tempestade. Se falhar após esgotar n tentativas, é direcionada para uma DLQ para análise posterior, sem travar o fluxo principal da transação do cliente.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04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20"/>
              <a:t>Modelo Lógico</a:t>
            </a:r>
            <a:endParaRPr sz="182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500"/>
            <a:ext cx="8839203" cy="395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04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20"/>
              <a:t>Modelo Físico</a:t>
            </a:r>
            <a:endParaRPr sz="182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500"/>
            <a:ext cx="8839200" cy="4046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082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3300" y="2703075"/>
            <a:ext cx="4118801" cy="21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4294967295" type="title"/>
          </p:nvPr>
        </p:nvSpPr>
        <p:spPr>
          <a:xfrm>
            <a:off x="152400" y="2494550"/>
            <a:ext cx="13065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1320"/>
              <a:t>Contrato</a:t>
            </a:r>
            <a:endParaRPr b="1" sz="1320"/>
          </a:p>
        </p:txBody>
      </p:sp>
      <p:sp>
        <p:nvSpPr>
          <p:cNvPr id="77" name="Google Shape;77;p16"/>
          <p:cNvSpPr txBox="1"/>
          <p:nvPr>
            <p:ph idx="4294967295" type="title"/>
          </p:nvPr>
        </p:nvSpPr>
        <p:spPr>
          <a:xfrm>
            <a:off x="4303300" y="2026250"/>
            <a:ext cx="13065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1320"/>
              <a:t>Questões</a:t>
            </a:r>
            <a:endParaRPr b="1" sz="132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115250"/>
            <a:ext cx="3991170" cy="18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193675" y="733875"/>
            <a:ext cx="8301900" cy="4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1F1F1F"/>
                </a:solidFill>
              </a:rPr>
              <a:t>1. Inconsistência por Concorrência no Saldo de Limite </a:t>
            </a:r>
            <a:endParaRPr b="1" sz="10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Risco:</a:t>
            </a:r>
            <a:r>
              <a:rPr lang="pt-BR" sz="800">
                <a:solidFill>
                  <a:srgbClr val="1F1F1F"/>
                </a:solidFill>
              </a:rPr>
              <a:t> Múltiplas solicitações simultâneas de transação para a mesma conta, tentando validar e consumir o mesmo limite disponível em milissegundos.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Impacto:</a:t>
            </a:r>
            <a:r>
              <a:rPr lang="pt-BR" sz="800">
                <a:solidFill>
                  <a:srgbClr val="1F1F1F"/>
                </a:solidFill>
              </a:rPr>
              <a:t> Estouro de limite,</a:t>
            </a:r>
            <a:r>
              <a:rPr b="1" lang="pt-BR" sz="800">
                <a:solidFill>
                  <a:srgbClr val="1F1F1F"/>
                </a:solidFill>
              </a:rPr>
              <a:t> </a:t>
            </a:r>
            <a:r>
              <a:rPr lang="pt-BR" sz="800">
                <a:solidFill>
                  <a:srgbClr val="1F1F1F"/>
                </a:solidFill>
              </a:rPr>
              <a:t>o banco pode autorizar transações acima do saldo permitido, gerando prejuízo financeiro direto e risco regulatório.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Estratégia de Mitigação: </a:t>
            </a:r>
            <a:r>
              <a:rPr lang="pt-BR" sz="800">
                <a:solidFill>
                  <a:srgbClr val="1F1F1F"/>
                </a:solidFill>
              </a:rPr>
              <a:t>Utilizar bloqueio pessimista (select..for update)</a:t>
            </a:r>
            <a:r>
              <a:rPr lang="pt-BR" sz="1000">
                <a:solidFill>
                  <a:srgbClr val="1F1F1F"/>
                </a:solidFill>
              </a:rPr>
              <a:t> , </a:t>
            </a:r>
            <a:r>
              <a:rPr lang="pt-BR" sz="800">
                <a:solidFill>
                  <a:srgbClr val="1F1F1F"/>
                </a:solidFill>
              </a:rPr>
              <a:t>para “prender a linha”</a:t>
            </a:r>
            <a:r>
              <a:rPr lang="pt-BR" sz="1000">
                <a:solidFill>
                  <a:srgbClr val="1F1F1F"/>
                </a:solidFill>
              </a:rPr>
              <a:t> </a:t>
            </a:r>
            <a:r>
              <a:rPr lang="pt-BR" sz="800">
                <a:solidFill>
                  <a:srgbClr val="1F1F1F"/>
                </a:solidFill>
              </a:rPr>
              <a:t>até que a transação atual seja concluída (commitada ou revertida).</a:t>
            </a:r>
            <a:endParaRPr sz="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1F1F1F"/>
                </a:solidFill>
              </a:rPr>
              <a:t>2. Divergência e Perda de Rastreabilidade das Regras de Decisão </a:t>
            </a:r>
            <a:endParaRPr b="1" sz="10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Risco:</a:t>
            </a:r>
            <a:r>
              <a:rPr lang="pt-BR" sz="800">
                <a:solidFill>
                  <a:srgbClr val="1F1F1F"/>
                </a:solidFill>
              </a:rPr>
              <a:t> Como as regras e valores de limite mudam ao longo do tempo (e o sistema precisa evoluir de forma independente), transações podem ser avaliadas por versões diferentes de regras de negócio sem que o motivo exato da negação/aprovação fique registrado.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Impacto:</a:t>
            </a:r>
            <a:r>
              <a:rPr lang="pt-BR" sz="800">
                <a:solidFill>
                  <a:srgbClr val="1F1F1F"/>
                </a:solidFill>
              </a:rPr>
              <a:t> Impossibilidade de justificar ao cliente ou ao órgão regulador por que uma transação foi negada no passado.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Estratégia de Mitigação: </a:t>
            </a:r>
            <a:r>
              <a:rPr lang="pt-BR" sz="800">
                <a:solidFill>
                  <a:srgbClr val="1F1F1F"/>
                </a:solidFill>
              </a:rPr>
              <a:t>Snapshot de Decisão no Evento/Transação. No momento da decisão (autorização/negação), salvar junto ao registro da transação os dados do estado exato da regra aplicada.</a:t>
            </a:r>
            <a:endParaRPr sz="800">
              <a:solidFill>
                <a:srgbClr val="1F1F1F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00">
                <a:solidFill>
                  <a:srgbClr val="1F1F1F"/>
                </a:solidFill>
              </a:rPr>
              <a:t>3. Latência Excessiva e Gargalo em Consultas/Autorizações de Alto Volume</a:t>
            </a:r>
            <a:endParaRPr b="1" sz="10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Risco:</a:t>
            </a:r>
            <a:r>
              <a:rPr lang="pt-BR" sz="800">
                <a:solidFill>
                  <a:srgbClr val="1F1F1F"/>
                </a:solidFill>
              </a:rPr>
              <a:t> Depender do banco de dados relacional do legado ou de chamadas síncronas em cadeia para buscar contas, limites configurados, histórico e realizar a decisão de autorização.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Impacto:</a:t>
            </a:r>
            <a:r>
              <a:rPr lang="pt-BR" sz="800">
                <a:solidFill>
                  <a:srgbClr val="1F1F1F"/>
                </a:solidFill>
              </a:rPr>
              <a:t> </a:t>
            </a:r>
            <a:r>
              <a:rPr i="1" lang="pt-BR" sz="800">
                <a:solidFill>
                  <a:srgbClr val="1F1F1F"/>
                </a:solidFill>
              </a:rPr>
              <a:t>Timeouts</a:t>
            </a:r>
            <a:r>
              <a:rPr lang="pt-BR" sz="800">
                <a:solidFill>
                  <a:srgbClr val="1F1F1F"/>
                </a:solidFill>
              </a:rPr>
              <a:t> e indisponibilidade nos canais do cliente, durante picos de uso (ex: Black Friday, dia de pagamento), degradando a experiência do usuário e violando os SLAs do banco.</a:t>
            </a:r>
            <a:endParaRPr sz="800">
              <a:solidFill>
                <a:srgbClr val="1F1F1F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Char char="●"/>
            </a:pPr>
            <a:r>
              <a:rPr b="1" lang="pt-BR" sz="800">
                <a:solidFill>
                  <a:srgbClr val="1F1F1F"/>
                </a:solidFill>
              </a:rPr>
              <a:t>Estratégia de Mitigação: </a:t>
            </a:r>
            <a:r>
              <a:rPr lang="pt-BR" sz="800">
                <a:solidFill>
                  <a:srgbClr val="1F1F1F"/>
                </a:solidFill>
              </a:rPr>
              <a:t>Arquitetura Orientada a Eventos (EDA)</a:t>
            </a:r>
            <a:r>
              <a:rPr b="1" lang="pt-BR" sz="800">
                <a:solidFill>
                  <a:srgbClr val="1F1F1F"/>
                </a:solidFill>
              </a:rPr>
              <a:t> . </a:t>
            </a:r>
            <a:r>
              <a:rPr lang="pt-BR" sz="800">
                <a:solidFill>
                  <a:srgbClr val="1F1F1F"/>
                </a:solidFill>
              </a:rPr>
              <a:t>Notificar alterações de limites e estados de transação de forma assíncrona (via stream) para atualizar os sistemas secundários sem bloquear a linha de resposta da transação principal.</a:t>
            </a:r>
            <a:endParaRPr sz="8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>
            <p:ph idx="4294967295" type="title"/>
          </p:nvPr>
        </p:nvSpPr>
        <p:spPr>
          <a:xfrm>
            <a:off x="2041850" y="213075"/>
            <a:ext cx="32592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pt-BR" sz="1388"/>
              <a:t>Riscos, impactos e mitigação</a:t>
            </a:r>
            <a:endParaRPr b="1" sz="138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